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73" r:id="rId6"/>
    <p:sldId id="274" r:id="rId7"/>
    <p:sldId id="262" r:id="rId8"/>
    <p:sldId id="261" r:id="rId9"/>
    <p:sldId id="275" r:id="rId10"/>
    <p:sldId id="276" r:id="rId11"/>
    <p:sldId id="277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8" r:id="rId21"/>
  </p:sldIdLst>
  <p:sldSz cx="9144000" cy="5143500" type="screen16x9"/>
  <p:notesSz cx="6858000" cy="9144000"/>
  <p:embeddedFontLst>
    <p:embeddedFont>
      <p:font typeface="Merriweather" panose="00000500000000000000" pitchFamily="2" charset="0"/>
      <p:regular r:id="rId23"/>
      <p:bold r:id="rId24"/>
      <p:italic r:id="rId25"/>
      <p:boldItalic r:id="rId26"/>
    </p:embeddedFont>
    <p:embeddedFont>
      <p:font typeface="Merriweather Black" panose="00000A00000000000000" pitchFamily="2" charset="0"/>
      <p:bold r:id="rId27"/>
      <p:boldItalic r:id="rId28"/>
    </p:embeddedFont>
    <p:embeddedFont>
      <p:font typeface="Merriweather ExtraBold" panose="020B0604020202020204" charset="0"/>
      <p:bold r:id="rId29"/>
      <p:boldItalic r:id="rId30"/>
    </p:embeddedFont>
    <p:embeddedFont>
      <p:font typeface="Merriweather Light" panose="00000400000000000000" pitchFamily="2" charset="0"/>
      <p:regular r:id="rId31"/>
      <p:bold r:id="rId32"/>
      <p:italic r:id="rId33"/>
      <p:boldItalic r:id="rId34"/>
    </p:embeddedFont>
    <p:embeddedFont>
      <p:font typeface="Merriweather Medium" panose="020B0604020202020204" charset="0"/>
      <p:regular r:id="rId35"/>
      <p:bold r:id="rId36"/>
      <p:italic r:id="rId37"/>
      <p:boldItalic r:id="rId38"/>
    </p:embeddedFont>
    <p:embeddedFont>
      <p:font typeface="Merriweather SemiBold" panose="020B0604020202020204" charset="0"/>
      <p:regular r:id="rId39"/>
      <p:bold r:id="rId40"/>
      <p:italic r:id="rId41"/>
      <p:boldItalic r:id="rId42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B2C19B"/>
    <a:srgbClr val="F5F7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41F1F7F1-9ACD-4A7A-9FF1-98A3A87BC6FC}">
  <a:tblStyle styleId="{41F1F7F1-9ACD-4A7A-9FF1-98A3A87BC6FC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021" autoAdjust="0"/>
  </p:normalViewPr>
  <p:slideViewPr>
    <p:cSldViewPr snapToGrid="0">
      <p:cViewPr varScale="1">
        <p:scale>
          <a:sx n="137" d="100"/>
          <a:sy n="137" d="100"/>
        </p:scale>
        <p:origin x="864" y="12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45000" cy="450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9" Type="http://schemas.openxmlformats.org/officeDocument/2006/relationships/font" Target="fonts/font17.fntdata"/><Relationship Id="rId21" Type="http://schemas.openxmlformats.org/officeDocument/2006/relationships/slide" Target="slides/slide20.xml"/><Relationship Id="rId34" Type="http://schemas.openxmlformats.org/officeDocument/2006/relationships/font" Target="fonts/font12.fntdata"/><Relationship Id="rId42" Type="http://schemas.openxmlformats.org/officeDocument/2006/relationships/font" Target="fonts/font20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font" Target="fonts/font7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32" Type="http://schemas.openxmlformats.org/officeDocument/2006/relationships/font" Target="fonts/font10.fntdata"/><Relationship Id="rId37" Type="http://schemas.openxmlformats.org/officeDocument/2006/relationships/font" Target="fonts/font15.fntdata"/><Relationship Id="rId40" Type="http://schemas.openxmlformats.org/officeDocument/2006/relationships/font" Target="fonts/font18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36" Type="http://schemas.openxmlformats.org/officeDocument/2006/relationships/font" Target="fonts/font14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35" Type="http://schemas.openxmlformats.org/officeDocument/2006/relationships/font" Target="fonts/font13.fntdata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33" Type="http://schemas.openxmlformats.org/officeDocument/2006/relationships/font" Target="fonts/font11.fntdata"/><Relationship Id="rId38" Type="http://schemas.openxmlformats.org/officeDocument/2006/relationships/font" Target="fonts/font16.fntdata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font" Target="fonts/font19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h23eda180d9f4e40f_0_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h23eda180d9f4e40f_0_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h23eda180d9f4e40f_0_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h23eda180d9f4e40f_0_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23eda180d9f4e40f_0_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23eda180d9f4e40f_0_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2C9DBC4C-9431-843E-E487-605D324196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23eda180d9f4e40f_0_30:notes">
            <a:extLst>
              <a:ext uri="{FF2B5EF4-FFF2-40B4-BE49-F238E27FC236}">
                <a16:creationId xmlns:a16="http://schemas.microsoft.com/office/drawing/2014/main" id="{16B0F6EB-264A-CDD2-3A1D-BA32E4A3044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23eda180d9f4e40f_0_30:notes">
            <a:extLst>
              <a:ext uri="{FF2B5EF4-FFF2-40B4-BE49-F238E27FC236}">
                <a16:creationId xmlns:a16="http://schemas.microsoft.com/office/drawing/2014/main" id="{0ACD576A-C503-4724-6458-5612A07D3FF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68617061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3">
          <a:extLst>
            <a:ext uri="{FF2B5EF4-FFF2-40B4-BE49-F238E27FC236}">
              <a16:creationId xmlns:a16="http://schemas.microsoft.com/office/drawing/2014/main" id="{CCBC2525-51DB-452D-0E4B-769F26C4A5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h23eda180d9f4e40f_0_30:notes">
            <a:extLst>
              <a:ext uri="{FF2B5EF4-FFF2-40B4-BE49-F238E27FC236}">
                <a16:creationId xmlns:a16="http://schemas.microsoft.com/office/drawing/2014/main" id="{ABD9E424-74E2-7E18-058C-3726F55B6CB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" name="Google Shape;105;h23eda180d9f4e40f_0_30:notes">
            <a:extLst>
              <a:ext uri="{FF2B5EF4-FFF2-40B4-BE49-F238E27FC236}">
                <a16:creationId xmlns:a16="http://schemas.microsoft.com/office/drawing/2014/main" id="{C6D59DF0-2972-46F4-A148-5B2EB17E84D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8420317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h23eda180d9f4e40f_0_4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h23eda180d9f4e40f_0_4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23eda180d9f4e40f_0_6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23eda180d9f4e40f_0_6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45339987-9BEA-ED00-ABBF-8F6B21393F6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23eda180d9f4e40f_0_66:notes">
            <a:extLst>
              <a:ext uri="{FF2B5EF4-FFF2-40B4-BE49-F238E27FC236}">
                <a16:creationId xmlns:a16="http://schemas.microsoft.com/office/drawing/2014/main" id="{B635DFD7-0FA3-A4C7-BE51-D8EBC1CA20C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23eda180d9f4e40f_0_66:notes">
            <a:extLst>
              <a:ext uri="{FF2B5EF4-FFF2-40B4-BE49-F238E27FC236}">
                <a16:creationId xmlns:a16="http://schemas.microsoft.com/office/drawing/2014/main" id="{32CFEFF9-C773-4EF6-0674-4E257455F08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3991660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CA6FE436-C0E2-AE79-A7D6-308C4FF6D6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23eda180d9f4e40f_0_66:notes">
            <a:extLst>
              <a:ext uri="{FF2B5EF4-FFF2-40B4-BE49-F238E27FC236}">
                <a16:creationId xmlns:a16="http://schemas.microsoft.com/office/drawing/2014/main" id="{EDD2B1C3-B55A-6A49-D6C8-BAD9FC4C6E99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23eda180d9f4e40f_0_66:notes">
            <a:extLst>
              <a:ext uri="{FF2B5EF4-FFF2-40B4-BE49-F238E27FC236}">
                <a16:creationId xmlns:a16="http://schemas.microsoft.com/office/drawing/2014/main" id="{EC23A210-45D7-C930-0ABF-4445AA262E58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6877273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70644376-3CF9-DCFD-D257-33AA1AE02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23eda180d9f4e40f_0_66:notes">
            <a:extLst>
              <a:ext uri="{FF2B5EF4-FFF2-40B4-BE49-F238E27FC236}">
                <a16:creationId xmlns:a16="http://schemas.microsoft.com/office/drawing/2014/main" id="{D23273AC-D979-D575-AF2B-4B82CB081C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23eda180d9f4e40f_0_66:notes">
            <a:extLst>
              <a:ext uri="{FF2B5EF4-FFF2-40B4-BE49-F238E27FC236}">
                <a16:creationId xmlns:a16="http://schemas.microsoft.com/office/drawing/2014/main" id="{E266FFF7-B726-E1AD-DB72-D6813D3ED10B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04785262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h23eda180d9f4e40f_0_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h23eda180d9f4e40f_0_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h23eda180d9f4e40f_0_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h23eda180d9f4e40f_0_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h23eda180d9f4e40f_0_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0" name="Google Shape;180;h23eda180d9f4e40f_0_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h23eda180d9f4e40f_0_9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h23eda180d9f4e40f_0_9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h23eda180d9f4e40f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h23eda180d9f4e40f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h23eda180d9f4e40f_0_1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" name="Google Shape;227;h23eda180d9f4e40f_0_1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h23eda180d9f4e40f_0_24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h23eda180d9f4e40f_0_24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h23eda180d9f4e40f_0_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h23eda180d9f4e40f_0_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1">
          <a:extLst>
            <a:ext uri="{FF2B5EF4-FFF2-40B4-BE49-F238E27FC236}">
              <a16:creationId xmlns:a16="http://schemas.microsoft.com/office/drawing/2014/main" id="{DC3BC763-BA2D-B12E-D2A0-642824294B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h23eda180d9f4e40f_0_66:notes">
            <a:extLst>
              <a:ext uri="{FF2B5EF4-FFF2-40B4-BE49-F238E27FC236}">
                <a16:creationId xmlns:a16="http://schemas.microsoft.com/office/drawing/2014/main" id="{FFF2E66F-0B7B-E293-5866-690626AAE01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h23eda180d9f4e40f_0_66:notes">
            <a:extLst>
              <a:ext uri="{FF2B5EF4-FFF2-40B4-BE49-F238E27FC236}">
                <a16:creationId xmlns:a16="http://schemas.microsoft.com/office/drawing/2014/main" id="{0398AB67-F99D-C2BC-D5B7-A416DC05917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26845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rgbClr val="F5F7F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18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6.png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7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311700" y="1115112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 dirty="0">
                <a:latin typeface="Merriweather"/>
                <a:ea typeface="Merriweather"/>
                <a:cs typeface="Merriweather"/>
                <a:sym typeface="Merriweather"/>
              </a:rPr>
              <a:t>Nara Hotéis</a:t>
            </a:r>
            <a:endParaRPr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311700" y="24544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85000" lnSpcReduction="20000"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51944"/>
              <a:buNone/>
            </a:pPr>
            <a:r>
              <a:rPr lang="pt-BR" sz="1800" dirty="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Rede Hoteleira do Estado do Rio de Janeiro</a:t>
            </a:r>
            <a:endParaRPr sz="1800" dirty="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ct val="51944"/>
              <a:buNone/>
            </a:pPr>
            <a:r>
              <a:rPr lang="pt-BR" sz="1800" dirty="0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13 Unidades | 4 Regiões | 6 Bases de Dados</a:t>
            </a:r>
            <a:endParaRPr sz="1800" dirty="0"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56" name="Google Shape;56;p13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13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8" name="Google Shape;58;p13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9" name="Google Shape;59;p13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60" name="Google Shape;60;p13"/>
          <p:cNvCxnSpPr/>
          <p:nvPr/>
        </p:nvCxnSpPr>
        <p:spPr>
          <a:xfrm>
            <a:off x="431625" y="2337950"/>
            <a:ext cx="3906300" cy="0"/>
          </a:xfrm>
          <a:prstGeom prst="straightConnector1">
            <a:avLst/>
          </a:prstGeom>
          <a:noFill/>
          <a:ln w="38100" cap="flat" cmpd="sng">
            <a:solidFill>
              <a:srgbClr val="8B6914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61" name="Google Shape;61;p13"/>
          <p:cNvSpPr txBox="1"/>
          <p:nvPr/>
        </p:nvSpPr>
        <p:spPr>
          <a:xfrm>
            <a:off x="311700" y="1907700"/>
            <a:ext cx="5718900" cy="33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38761D"/>
                </a:solidFill>
                <a:latin typeface="Merriweather"/>
                <a:ea typeface="Merriweather"/>
                <a:cs typeface="Merriweather"/>
                <a:sym typeface="Merriweather"/>
              </a:rPr>
              <a:t>Consultoria de Dados: Diagnóstico e Painel Gerencial</a:t>
            </a:r>
            <a:endParaRPr>
              <a:solidFill>
                <a:srgbClr val="38761D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62" name="Google Shape;62;p13"/>
          <p:cNvSpPr txBox="1"/>
          <p:nvPr/>
        </p:nvSpPr>
        <p:spPr>
          <a:xfrm>
            <a:off x="311700" y="3854100"/>
            <a:ext cx="6488700" cy="110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Daniel de Carvalho Nunes</a:t>
            </a:r>
            <a:endParaRPr sz="1800" b="1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Karoline </a:t>
            </a:r>
            <a:r>
              <a:rPr lang="pt-BR" sz="1800" b="1" dirty="0" err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Duffrayer</a:t>
            </a:r>
            <a:endParaRPr sz="1800" b="1" dirty="0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63" name="Google Shape;63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608250" y="577150"/>
            <a:ext cx="2959450" cy="29594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4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14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14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14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p14"/>
          <p:cNvPicPr preferRelativeResize="0"/>
          <p:nvPr/>
        </p:nvPicPr>
        <p:blipFill rotWithShape="1">
          <a:blip r:embed="rId3">
            <a:alphaModFix/>
          </a:blip>
          <a:srcRect t="22656" b="22961"/>
          <a:stretch/>
        </p:blipFill>
        <p:spPr>
          <a:xfrm>
            <a:off x="354600" y="1648900"/>
            <a:ext cx="8434800" cy="2293500"/>
          </a:xfrm>
          <a:prstGeom prst="rect">
            <a:avLst/>
          </a:prstGeom>
          <a:noFill/>
          <a:ln>
            <a:noFill/>
          </a:ln>
        </p:spPr>
      </p:pic>
      <p:sp>
        <p:nvSpPr>
          <p:cNvPr id="73" name="Google Shape;73;p14"/>
          <p:cNvSpPr txBox="1"/>
          <p:nvPr/>
        </p:nvSpPr>
        <p:spPr>
          <a:xfrm>
            <a:off x="388325" y="485600"/>
            <a:ext cx="6510900" cy="95407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500" b="1" dirty="0">
                <a:solidFill>
                  <a:srgbClr val="2D5A27"/>
                </a:solidFill>
                <a:latin typeface="Merriweather"/>
                <a:sym typeface="Merriweather"/>
              </a:rPr>
              <a:t>Linha do tempo de inauguração das unidades</a:t>
            </a:r>
            <a:endParaRPr sz="2500" b="1" dirty="0">
              <a:solidFill>
                <a:srgbClr val="2D5A27"/>
              </a:solidFill>
              <a:latin typeface="Merriweather"/>
              <a:sym typeface="Merriweather"/>
            </a:endParaRPr>
          </a:p>
        </p:txBody>
      </p:sp>
      <p:pic>
        <p:nvPicPr>
          <p:cNvPr id="75" name="Google Shape;75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6800" y="83550"/>
            <a:ext cx="1055501" cy="10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76" name="Google Shape;76;p14"/>
          <p:cNvSpPr txBox="1"/>
          <p:nvPr/>
        </p:nvSpPr>
        <p:spPr>
          <a:xfrm>
            <a:off x="7757350" y="880150"/>
            <a:ext cx="109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Nara Hotéis</a:t>
            </a:r>
            <a:endParaRPr sz="1100"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" name="Google Shape;112;p16">
            <a:extLst>
              <a:ext uri="{FF2B5EF4-FFF2-40B4-BE49-F238E27FC236}">
                <a16:creationId xmlns:a16="http://schemas.microsoft.com/office/drawing/2014/main" id="{BD68AF27-6F3B-4A72-DFDD-437310E33FC6}"/>
              </a:ext>
            </a:extLst>
          </p:cNvPr>
          <p:cNvSpPr txBox="1"/>
          <p:nvPr/>
        </p:nvSpPr>
        <p:spPr>
          <a:xfrm>
            <a:off x="6742827" y="4273900"/>
            <a:ext cx="215537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5"/>
          <p:cNvSpPr/>
          <p:nvPr/>
        </p:nvSpPr>
        <p:spPr>
          <a:xfrm>
            <a:off x="311700" y="1191625"/>
            <a:ext cx="4047300" cy="96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5"/>
          <p:cNvSpPr txBox="1">
            <a:spLocks noGrp="1"/>
          </p:cNvSpPr>
          <p:nvPr>
            <p:ph type="title"/>
          </p:nvPr>
        </p:nvSpPr>
        <p:spPr>
          <a:xfrm>
            <a:off x="311699" y="248075"/>
            <a:ext cx="3745637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>
              <a:buClr>
                <a:srgbClr val="000000"/>
              </a:buClr>
            </a:pPr>
            <a:r>
              <a:rPr lang="pt-BR" sz="2500" b="1" dirty="0">
                <a:solidFill>
                  <a:srgbClr val="2D5A27"/>
                </a:solidFill>
                <a:latin typeface="Merriweather"/>
              </a:rPr>
              <a:t>Perfil dos clientes</a:t>
            </a:r>
            <a:endParaRPr sz="2500" b="1" dirty="0">
              <a:solidFill>
                <a:srgbClr val="2D5A27"/>
              </a:solidFill>
              <a:latin typeface="Merriweather"/>
            </a:endParaRPr>
          </a:p>
        </p:txBody>
      </p:sp>
      <p:sp>
        <p:nvSpPr>
          <p:cNvPr id="83" name="Google Shape;83;p15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" name="Google Shape;84;p15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" name="Google Shape;85;p15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6" name="Google Shape;86;p15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7" name="Google Shape;87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00" y="83550"/>
            <a:ext cx="1055501" cy="10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15"/>
          <p:cNvSpPr txBox="1"/>
          <p:nvPr/>
        </p:nvSpPr>
        <p:spPr>
          <a:xfrm>
            <a:off x="7757350" y="880150"/>
            <a:ext cx="109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Nara Hotéis</a:t>
            </a:r>
            <a:endParaRPr sz="1100"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cxnSp>
        <p:nvCxnSpPr>
          <p:cNvPr id="89" name="Google Shape;89;p15"/>
          <p:cNvCxnSpPr/>
          <p:nvPr/>
        </p:nvCxnSpPr>
        <p:spPr>
          <a:xfrm>
            <a:off x="2028925" y="1294063"/>
            <a:ext cx="0" cy="756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0" name="Google Shape;90;p15"/>
          <p:cNvSpPr txBox="1"/>
          <p:nvPr/>
        </p:nvSpPr>
        <p:spPr>
          <a:xfrm>
            <a:off x="2139075" y="1438950"/>
            <a:ext cx="2020800" cy="64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D5A27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321</a:t>
            </a:r>
            <a:br>
              <a:rPr lang="pt-BR" sz="1800" dirty="0">
                <a:solidFill>
                  <a:schemeClr val="dk2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</a:br>
            <a:r>
              <a:rPr lang="pt-BR" sz="1200" dirty="0">
                <a:solidFill>
                  <a:srgbClr val="2D5A27"/>
                </a:solidFill>
                <a:latin typeface="Merriweather"/>
                <a:sym typeface="Merriweather"/>
              </a:rPr>
              <a:t>Clientes Cadastrados</a:t>
            </a:r>
            <a:endParaRPr sz="1200" dirty="0">
              <a:solidFill>
                <a:srgbClr val="2D5A27"/>
              </a:solidFill>
              <a:latin typeface="Merriweather"/>
              <a:sym typeface="Merriweather"/>
            </a:endParaRPr>
          </a:p>
        </p:txBody>
      </p:sp>
      <p:pic>
        <p:nvPicPr>
          <p:cNvPr id="91" name="Google Shape;91;p1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7200" y="1320400"/>
            <a:ext cx="1571687" cy="70941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1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851997" y="1220225"/>
            <a:ext cx="925753" cy="677100"/>
          </a:xfrm>
          <a:prstGeom prst="rect">
            <a:avLst/>
          </a:prstGeom>
          <a:noFill/>
          <a:ln>
            <a:noFill/>
          </a:ln>
        </p:spPr>
      </p:pic>
      <p:sp>
        <p:nvSpPr>
          <p:cNvPr id="93" name="Google Shape;93;p15"/>
          <p:cNvSpPr/>
          <p:nvPr/>
        </p:nvSpPr>
        <p:spPr>
          <a:xfrm>
            <a:off x="4657600" y="1212875"/>
            <a:ext cx="4047300" cy="9618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" name="Google Shape;94;p15"/>
          <p:cNvCxnSpPr/>
          <p:nvPr/>
        </p:nvCxnSpPr>
        <p:spPr>
          <a:xfrm>
            <a:off x="6134975" y="1274038"/>
            <a:ext cx="0" cy="75690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5" name="Google Shape;95;p15"/>
          <p:cNvSpPr txBox="1"/>
          <p:nvPr/>
        </p:nvSpPr>
        <p:spPr>
          <a:xfrm>
            <a:off x="6245676" y="1438950"/>
            <a:ext cx="2428500" cy="646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dirty="0">
                <a:solidFill>
                  <a:srgbClr val="2D5A27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  <a:t>65+</a:t>
            </a:r>
            <a:br>
              <a:rPr lang="pt-BR" sz="1800" dirty="0">
                <a:solidFill>
                  <a:srgbClr val="2D5A27"/>
                </a:solidFill>
                <a:latin typeface="Merriweather ExtraBold"/>
                <a:ea typeface="Merriweather ExtraBold"/>
                <a:cs typeface="Merriweather ExtraBold"/>
                <a:sym typeface="Merriweather ExtraBold"/>
              </a:rPr>
            </a:br>
            <a:r>
              <a:rPr lang="pt-BR" sz="1200" dirty="0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Faixa etária</a:t>
            </a:r>
            <a:endParaRPr sz="1200" dirty="0">
              <a:solidFill>
                <a:schemeClr val="dk2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96" name="Google Shape;96;p1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922587" y="1274050"/>
            <a:ext cx="1055500" cy="821647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pic>
      <p:sp>
        <p:nvSpPr>
          <p:cNvPr id="97" name="Google Shape;97;p15"/>
          <p:cNvSpPr/>
          <p:nvPr/>
        </p:nvSpPr>
        <p:spPr>
          <a:xfrm>
            <a:off x="311700" y="2316450"/>
            <a:ext cx="3233100" cy="2571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15"/>
          <p:cNvSpPr txBox="1"/>
          <p:nvPr/>
        </p:nvSpPr>
        <p:spPr>
          <a:xfrm>
            <a:off x="516600" y="2310839"/>
            <a:ext cx="25551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Faixa etária</a:t>
            </a:r>
            <a:endParaRPr sz="1800" b="1" dirty="0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00" name="Google Shape;100;p15"/>
          <p:cNvSpPr/>
          <p:nvPr/>
        </p:nvSpPr>
        <p:spPr>
          <a:xfrm>
            <a:off x="3823050" y="2316400"/>
            <a:ext cx="4881900" cy="25719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2" name="Google Shape;102;p15"/>
          <p:cNvSpPr txBox="1"/>
          <p:nvPr/>
        </p:nvSpPr>
        <p:spPr>
          <a:xfrm>
            <a:off x="4057337" y="2341599"/>
            <a:ext cx="3841500" cy="28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 b="1" dirty="0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Cidades de origem dos clientes</a:t>
            </a:r>
            <a:endParaRPr sz="1800" b="1" dirty="0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EAF9AF33-992D-AA51-EFBD-83D8AD42AE48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67812" y="2911775"/>
            <a:ext cx="2822352" cy="168166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54B8572B-6213-F055-07B9-FC43CB3F8FC0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 t="7822" b="8847"/>
          <a:stretch>
            <a:fillRect/>
          </a:stretch>
        </p:blipFill>
        <p:spPr>
          <a:xfrm>
            <a:off x="3879148" y="2773904"/>
            <a:ext cx="4728303" cy="187528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311700" y="248075"/>
            <a:ext cx="6738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>
              <a:buClr>
                <a:srgbClr val="000000"/>
              </a:buClr>
            </a:pPr>
            <a:r>
              <a:rPr lang="pt-BR" sz="2500" b="1" dirty="0">
                <a:solidFill>
                  <a:srgbClr val="2D5A27"/>
                </a:solidFill>
                <a:latin typeface="Merriweather"/>
                <a:sym typeface="Merriweather"/>
              </a:rPr>
              <a:t>Faturamento por ano</a:t>
            </a:r>
            <a:endParaRPr sz="2500" b="1" dirty="0">
              <a:solidFill>
                <a:srgbClr val="2D5A27"/>
              </a:solidFill>
              <a:latin typeface="Merriweather"/>
              <a:sym typeface="Merriweather"/>
            </a:endParaRPr>
          </a:p>
          <a:p>
            <a:pPr>
              <a:buClr>
                <a:srgbClr val="000000"/>
              </a:buClr>
            </a:pPr>
            <a:r>
              <a:rPr lang="pt-BR" sz="2000" dirty="0">
                <a:solidFill>
                  <a:srgbClr val="2D5A27"/>
                </a:solidFill>
                <a:latin typeface="Merriweather"/>
                <a:sym typeface="Merriweather Medium"/>
              </a:rPr>
              <a:t>Jan - Agosto</a:t>
            </a:r>
            <a:endParaRPr sz="2000" dirty="0">
              <a:solidFill>
                <a:srgbClr val="2D5A27"/>
              </a:solidFill>
              <a:latin typeface="Merriweather"/>
              <a:sym typeface="Merriweather Medium"/>
            </a:endParaRPr>
          </a:p>
        </p:txBody>
      </p:sp>
      <p:sp>
        <p:nvSpPr>
          <p:cNvPr id="112" name="Google Shape;112;p16"/>
          <p:cNvSpPr txBox="1"/>
          <p:nvPr/>
        </p:nvSpPr>
        <p:spPr>
          <a:xfrm>
            <a:off x="6742827" y="4273900"/>
            <a:ext cx="215537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pic>
        <p:nvPicPr>
          <p:cNvPr id="115" name="Google Shape;115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00" y="83550"/>
            <a:ext cx="1055501" cy="10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/>
          <p:cNvSpPr txBox="1"/>
          <p:nvPr/>
        </p:nvSpPr>
        <p:spPr>
          <a:xfrm>
            <a:off x="7757350" y="880150"/>
            <a:ext cx="109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Nara Hotéis</a:t>
            </a:r>
            <a:endParaRPr sz="1100"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grpSp>
        <p:nvGrpSpPr>
          <p:cNvPr id="11" name="Agrupar 10">
            <a:extLst>
              <a:ext uri="{FF2B5EF4-FFF2-40B4-BE49-F238E27FC236}">
                <a16:creationId xmlns:a16="http://schemas.microsoft.com/office/drawing/2014/main" id="{1F60B8A4-8298-7CD5-4C6F-5BECDA1E9AD4}"/>
              </a:ext>
            </a:extLst>
          </p:cNvPr>
          <p:cNvGrpSpPr/>
          <p:nvPr/>
        </p:nvGrpSpPr>
        <p:grpSpPr>
          <a:xfrm>
            <a:off x="676701" y="1261050"/>
            <a:ext cx="7435344" cy="3103701"/>
            <a:chOff x="541593" y="1234150"/>
            <a:chExt cx="7435344" cy="3103701"/>
          </a:xfrm>
        </p:grpSpPr>
        <p:pic>
          <p:nvPicPr>
            <p:cNvPr id="9" name="Imagem 8">
              <a:extLst>
                <a:ext uri="{FF2B5EF4-FFF2-40B4-BE49-F238E27FC236}">
                  <a16:creationId xmlns:a16="http://schemas.microsoft.com/office/drawing/2014/main" id="{E6F2FA12-6065-8F24-B07E-14B0360E4A3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rcRect t="6216"/>
            <a:stretch>
              <a:fillRect/>
            </a:stretch>
          </p:blipFill>
          <p:spPr>
            <a:xfrm>
              <a:off x="541593" y="1261050"/>
              <a:ext cx="7435344" cy="3076801"/>
            </a:xfrm>
            <a:prstGeom prst="rect">
              <a:avLst/>
            </a:prstGeom>
          </p:spPr>
        </p:pic>
        <p:sp>
          <p:nvSpPr>
            <p:cNvPr id="10" name="Retângulo 9">
              <a:extLst>
                <a:ext uri="{FF2B5EF4-FFF2-40B4-BE49-F238E27FC236}">
                  <a16:creationId xmlns:a16="http://schemas.microsoft.com/office/drawing/2014/main" id="{C98595E2-710D-1039-F8E3-BA688320EDCC}"/>
                </a:ext>
              </a:extLst>
            </p:cNvPr>
            <p:cNvSpPr/>
            <p:nvPr/>
          </p:nvSpPr>
          <p:spPr>
            <a:xfrm>
              <a:off x="4006516" y="1234150"/>
              <a:ext cx="1383631" cy="203574"/>
            </a:xfrm>
            <a:prstGeom prst="rect">
              <a:avLst/>
            </a:prstGeom>
            <a:solidFill>
              <a:srgbClr val="F5F7F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4" name="Retângulo 13">
            <a:extLst>
              <a:ext uri="{FF2B5EF4-FFF2-40B4-BE49-F238E27FC236}">
                <a16:creationId xmlns:a16="http://schemas.microsoft.com/office/drawing/2014/main" id="{6DB3486F-6F93-1759-C110-5B05669A95A5}"/>
              </a:ext>
            </a:extLst>
          </p:cNvPr>
          <p:cNvSpPr/>
          <p:nvPr/>
        </p:nvSpPr>
        <p:spPr>
          <a:xfrm>
            <a:off x="4267201" y="1488337"/>
            <a:ext cx="1383631" cy="203574"/>
          </a:xfrm>
          <a:prstGeom prst="rect">
            <a:avLst/>
          </a:prstGeom>
          <a:solidFill>
            <a:srgbClr val="F5F7F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A2631FA7-A547-9448-BBF7-74CED4FE49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7ED3D3B2-1CA9-E3A1-5032-3A7F1B0E87F0}"/>
              </a:ext>
            </a:extLst>
          </p:cNvPr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id="{32EA4163-5167-CEF1-4DF9-BD88003C1B34}"/>
              </a:ext>
            </a:extLst>
          </p:cNvPr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9B0BC39F-EA0F-1870-CA5C-ADC0E03AC25C}"/>
              </a:ext>
            </a:extLst>
          </p:cNvPr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>
            <a:extLst>
              <a:ext uri="{FF2B5EF4-FFF2-40B4-BE49-F238E27FC236}">
                <a16:creationId xmlns:a16="http://schemas.microsoft.com/office/drawing/2014/main" id="{12371A60-3939-2CBD-1584-AA62ACC13EFA}"/>
              </a:ext>
            </a:extLst>
          </p:cNvPr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2" name="Google Shape;112;p16">
            <a:extLst>
              <a:ext uri="{FF2B5EF4-FFF2-40B4-BE49-F238E27FC236}">
                <a16:creationId xmlns:a16="http://schemas.microsoft.com/office/drawing/2014/main" id="{8626CDA5-0C84-4DF1-B56D-9FC3710015FA}"/>
              </a:ext>
            </a:extLst>
          </p:cNvPr>
          <p:cNvSpPr txBox="1"/>
          <p:nvPr/>
        </p:nvSpPr>
        <p:spPr>
          <a:xfrm>
            <a:off x="6735847" y="4273900"/>
            <a:ext cx="216235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pic>
        <p:nvPicPr>
          <p:cNvPr id="115" name="Google Shape;115;p16">
            <a:extLst>
              <a:ext uri="{FF2B5EF4-FFF2-40B4-BE49-F238E27FC236}">
                <a16:creationId xmlns:a16="http://schemas.microsoft.com/office/drawing/2014/main" id="{026FB781-30C2-6004-4AF7-8810C6BBB05A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00" y="83550"/>
            <a:ext cx="1055501" cy="10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>
            <a:extLst>
              <a:ext uri="{FF2B5EF4-FFF2-40B4-BE49-F238E27FC236}">
                <a16:creationId xmlns:a16="http://schemas.microsoft.com/office/drawing/2014/main" id="{E3809F55-C8C0-B3C2-4CE1-FE3B039EC5B3}"/>
              </a:ext>
            </a:extLst>
          </p:cNvPr>
          <p:cNvSpPr txBox="1"/>
          <p:nvPr/>
        </p:nvSpPr>
        <p:spPr>
          <a:xfrm>
            <a:off x="7757350" y="880150"/>
            <a:ext cx="109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Nara Hotéis</a:t>
            </a:r>
            <a:endParaRPr sz="1100"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2" name="Imagem 1">
            <a:extLst>
              <a:ext uri="{FF2B5EF4-FFF2-40B4-BE49-F238E27FC236}">
                <a16:creationId xmlns:a16="http://schemas.microsoft.com/office/drawing/2014/main" id="{948E9813-6CC5-598A-27FD-9CD5791C942F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12514"/>
          <a:stretch>
            <a:fillRect/>
          </a:stretch>
        </p:blipFill>
        <p:spPr>
          <a:xfrm>
            <a:off x="311699" y="1198427"/>
            <a:ext cx="8105564" cy="3187788"/>
          </a:xfrm>
          <a:prstGeom prst="rect">
            <a:avLst/>
          </a:prstGeom>
        </p:spPr>
      </p:pic>
      <p:sp>
        <p:nvSpPr>
          <p:cNvPr id="5" name="Google Shape;111;p16">
            <a:extLst>
              <a:ext uri="{FF2B5EF4-FFF2-40B4-BE49-F238E27FC236}">
                <a16:creationId xmlns:a16="http://schemas.microsoft.com/office/drawing/2014/main" id="{075F9F85-F3F7-54EF-6211-0B74A8AF6D97}"/>
              </a:ext>
            </a:extLst>
          </p:cNvPr>
          <p:cNvSpPr txBox="1">
            <a:spLocks/>
          </p:cNvSpPr>
          <p:nvPr/>
        </p:nvSpPr>
        <p:spPr>
          <a:xfrm>
            <a:off x="311700" y="248075"/>
            <a:ext cx="6738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 spc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>
              <a:buClr>
                <a:srgbClr val="000000"/>
              </a:buClr>
            </a:pPr>
            <a:r>
              <a:rPr lang="pt-BR" sz="2300" b="1" dirty="0">
                <a:solidFill>
                  <a:srgbClr val="2D5A27"/>
                </a:solidFill>
                <a:latin typeface="Merriweather"/>
                <a:sym typeface="Merriweather"/>
              </a:rPr>
              <a:t>Faturamento mensal</a:t>
            </a:r>
            <a:br>
              <a:rPr lang="pt-BR" sz="2300" b="1" dirty="0">
                <a:solidFill>
                  <a:srgbClr val="2D5A27"/>
                </a:solidFill>
                <a:latin typeface="Merriweather"/>
                <a:sym typeface="Merriweather"/>
              </a:rPr>
            </a:br>
            <a:r>
              <a:rPr lang="pt-BR" sz="1800" dirty="0">
                <a:solidFill>
                  <a:srgbClr val="2D5A27"/>
                </a:solidFill>
                <a:latin typeface="Merriweather"/>
                <a:sym typeface="Merriweather"/>
              </a:rPr>
              <a:t>2025 e 2026 – reservas concluídas</a:t>
            </a:r>
          </a:p>
        </p:txBody>
      </p:sp>
    </p:spTree>
    <p:extLst>
      <p:ext uri="{BB962C8B-B14F-4D97-AF65-F5344CB8AC3E}">
        <p14:creationId xmlns:p14="http://schemas.microsoft.com/office/powerpoint/2010/main" val="256411124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6">
          <a:extLst>
            <a:ext uri="{FF2B5EF4-FFF2-40B4-BE49-F238E27FC236}">
              <a16:creationId xmlns:a16="http://schemas.microsoft.com/office/drawing/2014/main" id="{C9DC0D0A-12AA-A3E9-E5AD-63BD77D361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16">
            <a:extLst>
              <a:ext uri="{FF2B5EF4-FFF2-40B4-BE49-F238E27FC236}">
                <a16:creationId xmlns:a16="http://schemas.microsoft.com/office/drawing/2014/main" id="{77F3D846-F299-7758-0860-19E8E4BFA3B9}"/>
              </a:ext>
            </a:extLst>
          </p:cNvPr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" name="Google Shape;108;p16">
            <a:extLst>
              <a:ext uri="{FF2B5EF4-FFF2-40B4-BE49-F238E27FC236}">
                <a16:creationId xmlns:a16="http://schemas.microsoft.com/office/drawing/2014/main" id="{FB3ED31B-8076-C5A8-6FBB-0DF40BD8FF40}"/>
              </a:ext>
            </a:extLst>
          </p:cNvPr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16">
            <a:extLst>
              <a:ext uri="{FF2B5EF4-FFF2-40B4-BE49-F238E27FC236}">
                <a16:creationId xmlns:a16="http://schemas.microsoft.com/office/drawing/2014/main" id="{597E4A6A-D451-7558-10A6-0C129770ACFB}"/>
              </a:ext>
            </a:extLst>
          </p:cNvPr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0" name="Google Shape;110;p16">
            <a:extLst>
              <a:ext uri="{FF2B5EF4-FFF2-40B4-BE49-F238E27FC236}">
                <a16:creationId xmlns:a16="http://schemas.microsoft.com/office/drawing/2014/main" id="{5C87FDD8-57B1-AB62-3278-BA79D5576384}"/>
              </a:ext>
            </a:extLst>
          </p:cNvPr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1" name="Google Shape;111;p16">
            <a:extLst>
              <a:ext uri="{FF2B5EF4-FFF2-40B4-BE49-F238E27FC236}">
                <a16:creationId xmlns:a16="http://schemas.microsoft.com/office/drawing/2014/main" id="{C93E005B-1583-4430-B47F-40576DF0114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48075"/>
            <a:ext cx="6738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ts val="990"/>
            </a:pPr>
            <a:r>
              <a:rPr lang="pt-BR" sz="2300" b="1" dirty="0">
                <a:solidFill>
                  <a:srgbClr val="2D5A27"/>
                </a:solidFill>
                <a:latin typeface="Merriweather"/>
                <a:sym typeface="Merriweather"/>
              </a:rPr>
              <a:t>Status de reserva</a:t>
            </a:r>
            <a:br>
              <a:rPr lang="pt-BR" sz="2300" b="1" dirty="0">
                <a:solidFill>
                  <a:srgbClr val="2D5A27"/>
                </a:solidFill>
                <a:latin typeface="Merriweather"/>
                <a:sym typeface="Merriweather"/>
              </a:rPr>
            </a:br>
            <a:r>
              <a:rPr lang="pt-BR" sz="1800" dirty="0">
                <a:solidFill>
                  <a:srgbClr val="2D5A27"/>
                </a:solidFill>
                <a:latin typeface="Merriweather"/>
                <a:sym typeface="Merriweather"/>
              </a:rPr>
              <a:t>2025 e 2026</a:t>
            </a:r>
            <a:endParaRPr sz="1800" dirty="0">
              <a:solidFill>
                <a:srgbClr val="2D5A27"/>
              </a:solidFill>
              <a:latin typeface="Merriweather"/>
              <a:sym typeface="Merriweather"/>
            </a:endParaRPr>
          </a:p>
        </p:txBody>
      </p:sp>
      <p:sp>
        <p:nvSpPr>
          <p:cNvPr id="112" name="Google Shape;112;p16">
            <a:extLst>
              <a:ext uri="{FF2B5EF4-FFF2-40B4-BE49-F238E27FC236}">
                <a16:creationId xmlns:a16="http://schemas.microsoft.com/office/drawing/2014/main" id="{38C0B5A6-9FCF-5B38-9C8E-41DBDC42179B}"/>
              </a:ext>
            </a:extLst>
          </p:cNvPr>
          <p:cNvSpPr txBox="1"/>
          <p:nvPr/>
        </p:nvSpPr>
        <p:spPr>
          <a:xfrm>
            <a:off x="6742827" y="4273900"/>
            <a:ext cx="215537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pic>
        <p:nvPicPr>
          <p:cNvPr id="115" name="Google Shape;115;p16">
            <a:extLst>
              <a:ext uri="{FF2B5EF4-FFF2-40B4-BE49-F238E27FC236}">
                <a16:creationId xmlns:a16="http://schemas.microsoft.com/office/drawing/2014/main" id="{510A168E-DE99-C093-706D-2C6A826BFB0E}"/>
              </a:ext>
            </a:extLst>
          </p:cNvPr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00" y="83550"/>
            <a:ext cx="1055501" cy="10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6">
            <a:extLst>
              <a:ext uri="{FF2B5EF4-FFF2-40B4-BE49-F238E27FC236}">
                <a16:creationId xmlns:a16="http://schemas.microsoft.com/office/drawing/2014/main" id="{7E9ABDAA-F38B-E1FA-408A-E14F6E9AD999}"/>
              </a:ext>
            </a:extLst>
          </p:cNvPr>
          <p:cNvSpPr txBox="1"/>
          <p:nvPr/>
        </p:nvSpPr>
        <p:spPr>
          <a:xfrm>
            <a:off x="7757350" y="880150"/>
            <a:ext cx="109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Nara Hotéis</a:t>
            </a:r>
            <a:endParaRPr sz="1100"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A3052953-6848-0C36-8052-8E39A1D40E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9783" y="796390"/>
            <a:ext cx="6322936" cy="39162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84738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19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19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" name="Google Shape;149;p19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" name="Google Shape;150;p19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3" name="Google Shape;153;p19"/>
          <p:cNvSpPr txBox="1"/>
          <p:nvPr/>
        </p:nvSpPr>
        <p:spPr>
          <a:xfrm>
            <a:off x="202200" y="229014"/>
            <a:ext cx="7965300" cy="539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Variabilidade do faturamento por região</a:t>
            </a:r>
            <a:endParaRPr sz="2300" b="1" dirty="0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pic>
        <p:nvPicPr>
          <p:cNvPr id="10" name="Imagem 9">
            <a:extLst>
              <a:ext uri="{FF2B5EF4-FFF2-40B4-BE49-F238E27FC236}">
                <a16:creationId xmlns:a16="http://schemas.microsoft.com/office/drawing/2014/main" id="{6B502AC1-F12C-0E8B-E084-B2713E02535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3216" y="4332008"/>
            <a:ext cx="3742480" cy="406228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1EA961E1-83C2-6995-683B-707CE07A0583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1427" t="19165" r="1104" b="38265"/>
          <a:stretch>
            <a:fillRect/>
          </a:stretch>
        </p:blipFill>
        <p:spPr>
          <a:xfrm>
            <a:off x="463216" y="1076592"/>
            <a:ext cx="8340734" cy="1517568"/>
          </a:xfrm>
          <a:prstGeom prst="rect">
            <a:avLst/>
          </a:prstGeom>
        </p:spPr>
      </p:pic>
      <p:pic>
        <p:nvPicPr>
          <p:cNvPr id="17" name="Imagem 16">
            <a:extLst>
              <a:ext uri="{FF2B5EF4-FFF2-40B4-BE49-F238E27FC236}">
                <a16:creationId xmlns:a16="http://schemas.microsoft.com/office/drawing/2014/main" id="{9254B5EB-AC79-B589-F198-AB4695F664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274" t="67652" r="48920" b="6910"/>
          <a:stretch>
            <a:fillRect/>
          </a:stretch>
        </p:blipFill>
        <p:spPr>
          <a:xfrm>
            <a:off x="463216" y="2902338"/>
            <a:ext cx="5210636" cy="1131391"/>
          </a:xfrm>
          <a:prstGeom prst="rect">
            <a:avLst/>
          </a:prstGeom>
        </p:spPr>
      </p:pic>
      <p:sp>
        <p:nvSpPr>
          <p:cNvPr id="18" name="Google Shape;112;p16">
            <a:extLst>
              <a:ext uri="{FF2B5EF4-FFF2-40B4-BE49-F238E27FC236}">
                <a16:creationId xmlns:a16="http://schemas.microsoft.com/office/drawing/2014/main" id="{9BD99FC4-6410-318B-7F0E-F7BC55D8D46C}"/>
              </a:ext>
            </a:extLst>
          </p:cNvPr>
          <p:cNvSpPr txBox="1"/>
          <p:nvPr/>
        </p:nvSpPr>
        <p:spPr>
          <a:xfrm>
            <a:off x="6707927" y="4273900"/>
            <a:ext cx="219027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/>
          <p:cNvSpPr txBox="1">
            <a:spLocks noGrp="1"/>
          </p:cNvSpPr>
          <p:nvPr>
            <p:ph type="title"/>
          </p:nvPr>
        </p:nvSpPr>
        <p:spPr>
          <a:xfrm>
            <a:off x="311700" y="353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 sz="2500" b="1" dirty="0">
                <a:solidFill>
                  <a:srgbClr val="2D5A27"/>
                </a:solidFill>
                <a:latin typeface="Merriweather"/>
                <a:sym typeface="Merriweather"/>
              </a:rPr>
              <a:t>Onde existem unidades com performance de receita discrepante em relação </a:t>
            </a:r>
            <a:br>
              <a:rPr lang="pt-BR" sz="2500" b="1" dirty="0">
                <a:solidFill>
                  <a:srgbClr val="2D5A27"/>
                </a:solidFill>
                <a:latin typeface="Merriweather"/>
                <a:sym typeface="Merriweather"/>
              </a:rPr>
            </a:br>
            <a:r>
              <a:rPr lang="pt-BR" sz="2500" b="1" dirty="0">
                <a:solidFill>
                  <a:srgbClr val="2D5A27"/>
                </a:solidFill>
                <a:latin typeface="Merriweather"/>
                <a:sym typeface="Merriweather"/>
              </a:rPr>
              <a:t>às demais?</a:t>
            </a:r>
            <a:endParaRPr sz="2500" b="1" dirty="0">
              <a:solidFill>
                <a:srgbClr val="2D5A27"/>
              </a:solidFill>
              <a:latin typeface="Merriweather"/>
              <a:sym typeface="Merriweather"/>
            </a:endParaRPr>
          </a:p>
        </p:txBody>
      </p:sp>
      <p:sp>
        <p:nvSpPr>
          <p:cNvPr id="136" name="Google Shape;136;p18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453145E5-3FCB-2D28-438F-0011F7F41C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03358" y="1032708"/>
            <a:ext cx="5847347" cy="3881852"/>
          </a:xfrm>
          <a:prstGeom prst="rect">
            <a:avLst/>
          </a:prstGeom>
        </p:spPr>
      </p:pic>
      <p:sp>
        <p:nvSpPr>
          <p:cNvPr id="4" name="Google Shape;112;p16">
            <a:extLst>
              <a:ext uri="{FF2B5EF4-FFF2-40B4-BE49-F238E27FC236}">
                <a16:creationId xmlns:a16="http://schemas.microsoft.com/office/drawing/2014/main" id="{11BF80EE-85BD-FF2B-42DA-31C98E2998DD}"/>
              </a:ext>
            </a:extLst>
          </p:cNvPr>
          <p:cNvSpPr txBox="1"/>
          <p:nvPr/>
        </p:nvSpPr>
        <p:spPr>
          <a:xfrm>
            <a:off x="311699" y="4216825"/>
            <a:ext cx="220056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0AD2FCB-7EE8-9092-18D2-197C01DBEAE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>
            <a:extLst>
              <a:ext uri="{FF2B5EF4-FFF2-40B4-BE49-F238E27FC236}">
                <a16:creationId xmlns:a16="http://schemas.microsoft.com/office/drawing/2014/main" id="{4B51DE0E-9B69-A7E9-A6E6-79DF099EB96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53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 sz="2500" b="1" dirty="0" err="1">
                <a:solidFill>
                  <a:srgbClr val="2D5A27"/>
                </a:solidFill>
                <a:latin typeface="Merriweather"/>
                <a:sym typeface="Merriweather"/>
              </a:rPr>
              <a:t>NaraHoteis</a:t>
            </a:r>
            <a:r>
              <a:rPr lang="pt-BR" sz="2500" b="1" dirty="0">
                <a:solidFill>
                  <a:srgbClr val="2D5A27"/>
                </a:solidFill>
                <a:latin typeface="Merriweather"/>
                <a:sym typeface="Merriweather"/>
              </a:rPr>
              <a:t> Centro</a:t>
            </a:r>
            <a:endParaRPr sz="2500" b="1" dirty="0">
              <a:solidFill>
                <a:srgbClr val="2D5A27"/>
              </a:solidFill>
              <a:latin typeface="Merriweather"/>
              <a:sym typeface="Merriweather"/>
            </a:endParaRPr>
          </a:p>
        </p:txBody>
      </p:sp>
      <p:sp>
        <p:nvSpPr>
          <p:cNvPr id="136" name="Google Shape;136;p18">
            <a:extLst>
              <a:ext uri="{FF2B5EF4-FFF2-40B4-BE49-F238E27FC236}">
                <a16:creationId xmlns:a16="http://schemas.microsoft.com/office/drawing/2014/main" id="{40186C73-3A33-937E-145B-39FD5D03682A}"/>
              </a:ext>
            </a:extLst>
          </p:cNvPr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AC878096-3916-5F9C-9AD1-2BB677082245}"/>
              </a:ext>
            </a:extLst>
          </p:cNvPr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3421D4CD-ED53-6525-E291-6F4C45E1C475}"/>
              </a:ext>
            </a:extLst>
          </p:cNvPr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F4FDF2FC-C46F-5FE7-1703-DBD8A1D96E20}"/>
              </a:ext>
            </a:extLst>
          </p:cNvPr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8" name="Imagem 7">
            <a:extLst>
              <a:ext uri="{FF2B5EF4-FFF2-40B4-BE49-F238E27FC236}">
                <a16:creationId xmlns:a16="http://schemas.microsoft.com/office/drawing/2014/main" id="{DB42D051-1349-F526-2A4D-1CA40FEC1BC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926675"/>
            <a:ext cx="3372300" cy="1856660"/>
          </a:xfrm>
          <a:prstGeom prst="rect">
            <a:avLst/>
          </a:prstGeom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A1E49A5-7F6B-63BC-0E14-144E7C29FFB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11700" y="2824480"/>
            <a:ext cx="3794621" cy="2089174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4909E518-DFA0-D122-1231-6E047762EE6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2235" t="38336" r="67362" b="9032"/>
          <a:stretch>
            <a:fillRect/>
          </a:stretch>
        </p:blipFill>
        <p:spPr>
          <a:xfrm>
            <a:off x="5267337" y="612646"/>
            <a:ext cx="3036691" cy="3504655"/>
          </a:xfrm>
          <a:prstGeom prst="rect">
            <a:avLst/>
          </a:prstGeom>
          <a:solidFill>
            <a:srgbClr val="F5F7F2"/>
          </a:solidFill>
          <a:ln>
            <a:solidFill>
              <a:srgbClr val="B2C19B"/>
            </a:solidFill>
          </a:ln>
        </p:spPr>
      </p:pic>
      <p:sp>
        <p:nvSpPr>
          <p:cNvPr id="18" name="Google Shape;112;p16">
            <a:extLst>
              <a:ext uri="{FF2B5EF4-FFF2-40B4-BE49-F238E27FC236}">
                <a16:creationId xmlns:a16="http://schemas.microsoft.com/office/drawing/2014/main" id="{4A13C3BB-D181-7074-4B17-8C5D8C1B1822}"/>
              </a:ext>
            </a:extLst>
          </p:cNvPr>
          <p:cNvSpPr txBox="1"/>
          <p:nvPr/>
        </p:nvSpPr>
        <p:spPr>
          <a:xfrm>
            <a:off x="6735847" y="4273900"/>
            <a:ext cx="216235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  <p:extLst>
      <p:ext uri="{BB962C8B-B14F-4D97-AF65-F5344CB8AC3E}">
        <p14:creationId xmlns:p14="http://schemas.microsoft.com/office/powerpoint/2010/main" val="3406605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E1602FCC-8CF9-8570-94A0-C7CCB52FA4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>
            <a:extLst>
              <a:ext uri="{FF2B5EF4-FFF2-40B4-BE49-F238E27FC236}">
                <a16:creationId xmlns:a16="http://schemas.microsoft.com/office/drawing/2014/main" id="{3A600373-B528-3C30-37D4-F4AE8C2C669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53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 sz="2500" b="1" dirty="0" err="1">
                <a:solidFill>
                  <a:srgbClr val="2D5A27"/>
                </a:solidFill>
                <a:latin typeface="Merriweather"/>
                <a:sym typeface="Merriweather"/>
              </a:rPr>
              <a:t>NaraHoteis</a:t>
            </a:r>
            <a:r>
              <a:rPr lang="pt-BR" sz="2500" b="1" dirty="0">
                <a:solidFill>
                  <a:srgbClr val="2D5A27"/>
                </a:solidFill>
                <a:latin typeface="Merriweather"/>
                <a:sym typeface="Merriweather"/>
              </a:rPr>
              <a:t> Copacabana Premium</a:t>
            </a:r>
            <a:endParaRPr sz="2500" b="1" dirty="0">
              <a:solidFill>
                <a:srgbClr val="2D5A27"/>
              </a:solidFill>
              <a:latin typeface="Merriweather"/>
              <a:sym typeface="Merriweather"/>
            </a:endParaRPr>
          </a:p>
        </p:txBody>
      </p:sp>
      <p:sp>
        <p:nvSpPr>
          <p:cNvPr id="136" name="Google Shape;136;p18">
            <a:extLst>
              <a:ext uri="{FF2B5EF4-FFF2-40B4-BE49-F238E27FC236}">
                <a16:creationId xmlns:a16="http://schemas.microsoft.com/office/drawing/2014/main" id="{41FE70C5-4D11-26A6-17E6-A0725A3AE19E}"/>
              </a:ext>
            </a:extLst>
          </p:cNvPr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63B53A0D-C000-3EC7-B151-20BCDEC82932}"/>
              </a:ext>
            </a:extLst>
          </p:cNvPr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C73D90FA-907B-DAC4-5DC8-C7331CD8DA45}"/>
              </a:ext>
            </a:extLst>
          </p:cNvPr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41CD7FC1-6F31-707C-512B-51B07FB04401}"/>
              </a:ext>
            </a:extLst>
          </p:cNvPr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EE8CF6-9CDD-54DE-D1FA-2ED10CC6B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3851" y="926675"/>
            <a:ext cx="3730994" cy="2054143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14D4DC71-28E2-7861-148C-D2AF4C9699A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8447" y="3023331"/>
            <a:ext cx="3461801" cy="1888956"/>
          </a:xfrm>
          <a:prstGeom prst="rect">
            <a:avLst/>
          </a:prstGeom>
        </p:spPr>
      </p:pic>
      <p:pic>
        <p:nvPicPr>
          <p:cNvPr id="16" name="Imagem 15">
            <a:extLst>
              <a:ext uri="{FF2B5EF4-FFF2-40B4-BE49-F238E27FC236}">
                <a16:creationId xmlns:a16="http://schemas.microsoft.com/office/drawing/2014/main" id="{E1157AE4-A09E-805E-B1C9-7E1FE62DFC5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4427" t="58349" r="34686" b="8588"/>
          <a:stretch/>
        </p:blipFill>
        <p:spPr>
          <a:xfrm>
            <a:off x="5448219" y="1792850"/>
            <a:ext cx="2646861" cy="1888956"/>
          </a:xfrm>
          <a:prstGeom prst="rect">
            <a:avLst/>
          </a:prstGeom>
          <a:solidFill>
            <a:srgbClr val="F5F7F2"/>
          </a:solidFill>
          <a:ln>
            <a:solidFill>
              <a:srgbClr val="B2C19B"/>
            </a:solidFill>
          </a:ln>
        </p:spPr>
      </p:pic>
      <p:sp>
        <p:nvSpPr>
          <p:cNvPr id="17" name="Google Shape;112;p16">
            <a:extLst>
              <a:ext uri="{FF2B5EF4-FFF2-40B4-BE49-F238E27FC236}">
                <a16:creationId xmlns:a16="http://schemas.microsoft.com/office/drawing/2014/main" id="{26B806EA-A6DC-F403-80F1-916C746D4E23}"/>
              </a:ext>
            </a:extLst>
          </p:cNvPr>
          <p:cNvSpPr txBox="1"/>
          <p:nvPr/>
        </p:nvSpPr>
        <p:spPr>
          <a:xfrm>
            <a:off x="6828800" y="4273900"/>
            <a:ext cx="20694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  <p:extLst>
      <p:ext uri="{BB962C8B-B14F-4D97-AF65-F5344CB8AC3E}">
        <p14:creationId xmlns:p14="http://schemas.microsoft.com/office/powerpoint/2010/main" val="42681152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4">
          <a:extLst>
            <a:ext uri="{FF2B5EF4-FFF2-40B4-BE49-F238E27FC236}">
              <a16:creationId xmlns:a16="http://schemas.microsoft.com/office/drawing/2014/main" id="{8BE8829F-9FCF-8CCC-8D8A-E80F93107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8">
            <a:extLst>
              <a:ext uri="{FF2B5EF4-FFF2-40B4-BE49-F238E27FC236}">
                <a16:creationId xmlns:a16="http://schemas.microsoft.com/office/drawing/2014/main" id="{EE53A232-C1B2-1928-DD1C-10CEFD57AD6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353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61111"/>
              <a:buFont typeface="Arial"/>
              <a:buNone/>
            </a:pPr>
            <a:r>
              <a:rPr lang="pt-BR" sz="2500" b="1" dirty="0" err="1">
                <a:solidFill>
                  <a:srgbClr val="2D5A27"/>
                </a:solidFill>
                <a:latin typeface="Merriweather"/>
                <a:sym typeface="Merriweather"/>
              </a:rPr>
              <a:t>NaraHoteis</a:t>
            </a:r>
            <a:r>
              <a:rPr lang="pt-BR" sz="2500" b="1" dirty="0">
                <a:solidFill>
                  <a:srgbClr val="2D5A27"/>
                </a:solidFill>
                <a:latin typeface="Merriweather"/>
                <a:sym typeface="Merriweather"/>
              </a:rPr>
              <a:t> Nova Iguaçu Centro</a:t>
            </a:r>
            <a:endParaRPr sz="2500" b="1" dirty="0">
              <a:solidFill>
                <a:srgbClr val="2D5A27"/>
              </a:solidFill>
              <a:latin typeface="Merriweather"/>
              <a:sym typeface="Merriweather"/>
            </a:endParaRPr>
          </a:p>
        </p:txBody>
      </p:sp>
      <p:sp>
        <p:nvSpPr>
          <p:cNvPr id="136" name="Google Shape;136;p18">
            <a:extLst>
              <a:ext uri="{FF2B5EF4-FFF2-40B4-BE49-F238E27FC236}">
                <a16:creationId xmlns:a16="http://schemas.microsoft.com/office/drawing/2014/main" id="{5A2D29E3-4B34-A4ED-1125-9EC2CD93CB83}"/>
              </a:ext>
            </a:extLst>
          </p:cNvPr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53D49585-AB08-3707-A404-C199A7241053}"/>
              </a:ext>
            </a:extLst>
          </p:cNvPr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B6F87748-AF7C-859A-AB37-78F89F6A2A7E}"/>
              </a:ext>
            </a:extLst>
          </p:cNvPr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08898C8E-46FA-37C8-6C93-869484062DAC}"/>
              </a:ext>
            </a:extLst>
          </p:cNvPr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492373A3-3980-010F-F8F3-4B55D541EA7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4991" y="2860347"/>
            <a:ext cx="3504017" cy="1929178"/>
          </a:xfrm>
          <a:prstGeom prst="rect">
            <a:avLst/>
          </a:prstGeom>
        </p:spPr>
      </p:pic>
      <p:pic>
        <p:nvPicPr>
          <p:cNvPr id="7" name="Imagem 6">
            <a:extLst>
              <a:ext uri="{FF2B5EF4-FFF2-40B4-BE49-F238E27FC236}">
                <a16:creationId xmlns:a16="http://schemas.microsoft.com/office/drawing/2014/main" id="{CBCA5256-7DB0-B3C7-AD11-2B6F22D2C6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02201" y="869879"/>
            <a:ext cx="3749598" cy="2064385"/>
          </a:xfrm>
          <a:prstGeom prst="rect">
            <a:avLst/>
          </a:prstGeom>
        </p:spPr>
      </p:pic>
      <p:pic>
        <p:nvPicPr>
          <p:cNvPr id="14" name="Imagem 13">
            <a:extLst>
              <a:ext uri="{FF2B5EF4-FFF2-40B4-BE49-F238E27FC236}">
                <a16:creationId xmlns:a16="http://schemas.microsoft.com/office/drawing/2014/main" id="{DCDA5461-BD9E-B3F3-60D9-B02EB72B9FCD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67227" t="37381" r="2196" b="10335"/>
          <a:stretch>
            <a:fillRect/>
          </a:stretch>
        </p:blipFill>
        <p:spPr>
          <a:xfrm>
            <a:off x="5446643" y="1091950"/>
            <a:ext cx="2465189" cy="2810199"/>
          </a:xfrm>
          <a:prstGeom prst="rect">
            <a:avLst/>
          </a:prstGeom>
          <a:solidFill>
            <a:srgbClr val="F5F7F2"/>
          </a:solidFill>
          <a:ln>
            <a:solidFill>
              <a:srgbClr val="B2C19B"/>
            </a:solidFill>
          </a:ln>
        </p:spPr>
      </p:pic>
      <p:sp>
        <p:nvSpPr>
          <p:cNvPr id="15" name="Google Shape;112;p16">
            <a:extLst>
              <a:ext uri="{FF2B5EF4-FFF2-40B4-BE49-F238E27FC236}">
                <a16:creationId xmlns:a16="http://schemas.microsoft.com/office/drawing/2014/main" id="{FA1E4402-F09F-A329-2287-75E1738D2835}"/>
              </a:ext>
            </a:extLst>
          </p:cNvPr>
          <p:cNvSpPr txBox="1"/>
          <p:nvPr/>
        </p:nvSpPr>
        <p:spPr>
          <a:xfrm>
            <a:off x="6714907" y="4273900"/>
            <a:ext cx="218329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  <p:extLst>
      <p:ext uri="{BB962C8B-B14F-4D97-AF65-F5344CB8AC3E}">
        <p14:creationId xmlns:p14="http://schemas.microsoft.com/office/powerpoint/2010/main" val="40760824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20"/>
          <p:cNvSpPr txBox="1">
            <a:spLocks noGrp="1"/>
          </p:cNvSpPr>
          <p:nvPr>
            <p:ph type="title"/>
          </p:nvPr>
        </p:nvSpPr>
        <p:spPr>
          <a:xfrm>
            <a:off x="311700" y="25797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2300" b="1" dirty="0">
                <a:solidFill>
                  <a:srgbClr val="2D5A27"/>
                </a:solidFill>
                <a:latin typeface="Merriweather"/>
                <a:sym typeface="Merriweather"/>
              </a:rPr>
              <a:t>Comportamento das diárias  na rede</a:t>
            </a:r>
            <a:endParaRPr sz="2300" b="1" dirty="0">
              <a:solidFill>
                <a:srgbClr val="2D5A27"/>
              </a:solidFill>
              <a:latin typeface="Merriweather"/>
              <a:sym typeface="Merriweather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600" b="1" dirty="0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60" name="Google Shape;160;p20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20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20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20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" name="Imagem 4">
            <a:extLst>
              <a:ext uri="{FF2B5EF4-FFF2-40B4-BE49-F238E27FC236}">
                <a16:creationId xmlns:a16="http://schemas.microsoft.com/office/drawing/2014/main" id="{D998DC8C-8F0E-ED23-2EFC-CBC3A3FD5AA0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7317"/>
          <a:stretch>
            <a:fillRect/>
          </a:stretch>
        </p:blipFill>
        <p:spPr>
          <a:xfrm>
            <a:off x="311699" y="1318437"/>
            <a:ext cx="5221965" cy="2232215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80849524-815C-BE04-581B-EEE3D8236A07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2674" b="13960"/>
          <a:stretch>
            <a:fillRect/>
          </a:stretch>
        </p:blipFill>
        <p:spPr>
          <a:xfrm>
            <a:off x="5531207" y="544325"/>
            <a:ext cx="3413051" cy="4261591"/>
          </a:xfrm>
          <a:prstGeom prst="rect">
            <a:avLst/>
          </a:prstGeom>
        </p:spPr>
      </p:pic>
      <p:sp>
        <p:nvSpPr>
          <p:cNvPr id="14" name="Google Shape;112;p16">
            <a:extLst>
              <a:ext uri="{FF2B5EF4-FFF2-40B4-BE49-F238E27FC236}">
                <a16:creationId xmlns:a16="http://schemas.microsoft.com/office/drawing/2014/main" id="{1E18DE24-C91F-EBAA-7957-C89F922A24B5}"/>
              </a:ext>
            </a:extLst>
          </p:cNvPr>
          <p:cNvSpPr txBox="1"/>
          <p:nvPr/>
        </p:nvSpPr>
        <p:spPr>
          <a:xfrm>
            <a:off x="199742" y="4231525"/>
            <a:ext cx="217351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1"/>
          <p:cNvSpPr txBox="1">
            <a:spLocks noGrp="1"/>
          </p:cNvSpPr>
          <p:nvPr>
            <p:ph type="title"/>
          </p:nvPr>
        </p:nvSpPr>
        <p:spPr>
          <a:xfrm>
            <a:off x="311700" y="28675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>
              <a:lnSpc>
                <a:spcPct val="115000"/>
              </a:lnSpc>
              <a:buSzPct val="61111"/>
            </a:pPr>
            <a:r>
              <a:rPr lang="pt-BR" sz="2300" b="1" dirty="0">
                <a:solidFill>
                  <a:srgbClr val="2D5A27"/>
                </a:solidFill>
                <a:latin typeface="Merriweather"/>
              </a:rPr>
              <a:t>Unidades com registros de reservas simultâneas acima da capacidade cadastrada</a:t>
            </a:r>
            <a:endParaRPr sz="2300" b="1" dirty="0">
              <a:solidFill>
                <a:srgbClr val="2D5A27"/>
              </a:solidFill>
              <a:latin typeface="Merriweather"/>
            </a:endParaRPr>
          </a:p>
        </p:txBody>
      </p:sp>
      <p:sp>
        <p:nvSpPr>
          <p:cNvPr id="172" name="Google Shape;172;p21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21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4" name="Google Shape;174;p21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5" name="Google Shape;175;p21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76" name="Google Shape;176;p21"/>
          <p:cNvGraphicFramePr/>
          <p:nvPr>
            <p:extLst>
              <p:ext uri="{D42A27DB-BD31-4B8C-83A1-F6EECF244321}">
                <p14:modId xmlns:p14="http://schemas.microsoft.com/office/powerpoint/2010/main" val="640046159"/>
              </p:ext>
            </p:extLst>
          </p:nvPr>
        </p:nvGraphicFramePr>
        <p:xfrm>
          <a:off x="675300" y="1610128"/>
          <a:ext cx="7793400" cy="2279315"/>
        </p:xfrm>
        <a:graphic>
          <a:graphicData uri="http://schemas.openxmlformats.org/drawingml/2006/table">
            <a:tbl>
              <a:tblPr>
                <a:noFill/>
                <a:tableStyleId>{41F1F7F1-9ACD-4A7A-9FF1-98A3A87BC6FC}</a:tableStyleId>
              </a:tblPr>
              <a:tblGrid>
                <a:gridCol w="18833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2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48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928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82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5160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Merriweather SemiBold"/>
                          <a:ea typeface="Merriweather SemiBold"/>
                          <a:cs typeface="Merriweather SemiBold"/>
                          <a:sym typeface="Merriweather SemiBold"/>
                        </a:rPr>
                        <a:t>Unidade</a:t>
                      </a:r>
                      <a:endParaRPr>
                        <a:solidFill>
                          <a:schemeClr val="lt1"/>
                        </a:solidFill>
                        <a:latin typeface="Merriweather SemiBold"/>
                        <a:ea typeface="Merriweather SemiBold"/>
                        <a:cs typeface="Merriweather SemiBold"/>
                        <a:sym typeface="Merriweather SemiBol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Merriweather SemiBold"/>
                          <a:ea typeface="Merriweather SemiBold"/>
                          <a:cs typeface="Merriweather SemiBold"/>
                          <a:sym typeface="Merriweather SemiBold"/>
                        </a:rPr>
                        <a:t>Capacidade</a:t>
                      </a:r>
                      <a:endParaRPr>
                        <a:solidFill>
                          <a:schemeClr val="lt1"/>
                        </a:solidFill>
                        <a:latin typeface="Merriweather SemiBold"/>
                        <a:ea typeface="Merriweather SemiBold"/>
                        <a:cs typeface="Merriweather SemiBold"/>
                        <a:sym typeface="Merriweather SemiBol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Merriweather SemiBold"/>
                          <a:ea typeface="Merriweather SemiBold"/>
                          <a:cs typeface="Merriweather SemiBold"/>
                          <a:sym typeface="Merriweather SemiBold"/>
                        </a:rPr>
                        <a:t>Pico de Ocupação</a:t>
                      </a:r>
                      <a:endParaRPr>
                        <a:solidFill>
                          <a:schemeClr val="lt1"/>
                        </a:solidFill>
                        <a:latin typeface="Merriweather SemiBold"/>
                        <a:ea typeface="Merriweather SemiBold"/>
                        <a:cs typeface="Merriweather SemiBold"/>
                        <a:sym typeface="Merriweather SemiBol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solidFill>
                            <a:schemeClr val="lt1"/>
                          </a:solidFill>
                          <a:latin typeface="Merriweather SemiBold"/>
                          <a:ea typeface="Merriweather SemiBold"/>
                          <a:cs typeface="Merriweather SemiBold"/>
                          <a:sym typeface="Merriweather SemiBold"/>
                        </a:rPr>
                        <a:t>Período de Pico</a:t>
                      </a:r>
                      <a:endParaRPr dirty="0">
                        <a:solidFill>
                          <a:schemeClr val="lt1"/>
                        </a:solidFill>
                        <a:latin typeface="Merriweather SemiBold"/>
                        <a:ea typeface="Merriweather SemiBold"/>
                        <a:cs typeface="Merriweather SemiBold"/>
                        <a:sym typeface="Merriweather SemiBol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solidFill>
                            <a:schemeClr val="lt1"/>
                          </a:solidFill>
                          <a:latin typeface="Merriweather SemiBold"/>
                          <a:ea typeface="Merriweather SemiBold"/>
                          <a:cs typeface="Merriweather SemiBold"/>
                          <a:sym typeface="Merriweather SemiBold"/>
                        </a:rPr>
                        <a:t>Excesso</a:t>
                      </a:r>
                      <a:endParaRPr>
                        <a:solidFill>
                          <a:schemeClr val="lt1"/>
                        </a:solidFill>
                        <a:latin typeface="Merriweather SemiBold"/>
                        <a:ea typeface="Merriweather SemiBold"/>
                        <a:cs typeface="Merriweather SemiBold"/>
                        <a:sym typeface="Merriweather SemiBol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solidFill>
                            <a:schemeClr val="lt1"/>
                          </a:solidFill>
                          <a:latin typeface="Merriweather SemiBold"/>
                          <a:ea typeface="Merriweather SemiBold"/>
                          <a:cs typeface="Merriweather SemiBold"/>
                          <a:sym typeface="Merriweather SemiBold"/>
                        </a:rPr>
                        <a:t>Excesso (%)</a:t>
                      </a:r>
                      <a:endParaRPr dirty="0">
                        <a:solidFill>
                          <a:schemeClr val="lt1"/>
                        </a:solidFill>
                        <a:latin typeface="Merriweather SemiBold"/>
                        <a:ea typeface="Merriweather SemiBold"/>
                        <a:cs typeface="Merriweather SemiBold"/>
                        <a:sym typeface="Merriweather SemiBold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5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Centro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60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79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15 e 16/01/2024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+19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31,67%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9097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Nova Iguaçu Centro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50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64</a:t>
                      </a:r>
                      <a:endParaRPr dirty="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15 e 16/06/2024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+14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28,00%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336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Copacabana Premium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40</a:t>
                      </a:r>
                      <a:endParaRPr dirty="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45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20/07/2025 e 16/04/2026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+5</a:t>
                      </a:r>
                      <a:endParaRPr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dirty="0"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12,50%</a:t>
                      </a:r>
                      <a:endParaRPr dirty="0"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" name="Google Shape;112;p16">
            <a:extLst>
              <a:ext uri="{FF2B5EF4-FFF2-40B4-BE49-F238E27FC236}">
                <a16:creationId xmlns:a16="http://schemas.microsoft.com/office/drawing/2014/main" id="{05D9F3CE-E0C8-1D7D-588B-187F7A4B0700}"/>
              </a:ext>
            </a:extLst>
          </p:cNvPr>
          <p:cNvSpPr txBox="1"/>
          <p:nvPr/>
        </p:nvSpPr>
        <p:spPr>
          <a:xfrm>
            <a:off x="6742827" y="4273900"/>
            <a:ext cx="2155373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lang="pt-BR"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2"/>
          <p:cNvSpPr/>
          <p:nvPr/>
        </p:nvSpPr>
        <p:spPr>
          <a:xfrm>
            <a:off x="381275" y="456300"/>
            <a:ext cx="4006500" cy="425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3" name="Google Shape;183;p22"/>
          <p:cNvSpPr txBox="1">
            <a:spLocks noGrp="1"/>
          </p:cNvSpPr>
          <p:nvPr>
            <p:ph type="title"/>
          </p:nvPr>
        </p:nvSpPr>
        <p:spPr>
          <a:xfrm>
            <a:off x="775974" y="541965"/>
            <a:ext cx="3240900" cy="5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rgbClr val="2D5A27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Principais achados</a:t>
            </a:r>
            <a:endParaRPr>
              <a:solidFill>
                <a:srgbClr val="2D5A27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184" name="Google Shape;184;p22"/>
          <p:cNvSpPr txBox="1">
            <a:spLocks noGrp="1"/>
          </p:cNvSpPr>
          <p:nvPr>
            <p:ph type="body" idx="1"/>
          </p:nvPr>
        </p:nvSpPr>
        <p:spPr>
          <a:xfrm>
            <a:off x="1000700" y="1258175"/>
            <a:ext cx="3322800" cy="33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pt-BR" sz="12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Três unidades operaram acima da capacidade cadastrada</a:t>
            </a:r>
            <a:br>
              <a:rPr lang="pt-BR" sz="12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pt-BR" sz="1200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Os registros indicam ocupação superior ao limite em períodos específicos.</a:t>
            </a:r>
            <a:endParaRPr sz="1200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pt-BR" sz="12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O maior excesso foi na unidade Centro</a:t>
            </a:r>
            <a:br>
              <a:rPr lang="pt-BR" sz="12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pt-BR" sz="1200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Pico de 79 reservas para uma capacidade de 60 quartos (+31,67%).</a:t>
            </a:r>
            <a:endParaRPr sz="1200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rPr lang="pt-BR" sz="12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Os picos ocorreram em períodos distintos</a:t>
            </a:r>
            <a:br>
              <a:rPr lang="pt-BR" sz="12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pt-BR" sz="1200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Janeiro/2024 (Centro), junho/2024 (Nova Iguaçu Centro), e julho/2025 e abril/2026 (Copacabana Premium.</a:t>
            </a:r>
            <a:endParaRPr sz="1200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185" name="Google Shape;185;p22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6" name="Google Shape;186;p22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7" name="Google Shape;187;p22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8" name="Google Shape;188;p22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22"/>
          <p:cNvSpPr/>
          <p:nvPr/>
        </p:nvSpPr>
        <p:spPr>
          <a:xfrm>
            <a:off x="511175" y="1347550"/>
            <a:ext cx="467100" cy="467100"/>
          </a:xfrm>
          <a:prstGeom prst="ellipse">
            <a:avLst/>
          </a:prstGeom>
          <a:solidFill>
            <a:srgbClr val="2D5A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1</a:t>
            </a:r>
            <a:endParaRPr sz="22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190" name="Google Shape;190;p22"/>
          <p:cNvSpPr/>
          <p:nvPr/>
        </p:nvSpPr>
        <p:spPr>
          <a:xfrm>
            <a:off x="511175" y="2303800"/>
            <a:ext cx="467100" cy="467100"/>
          </a:xfrm>
          <a:prstGeom prst="ellipse">
            <a:avLst/>
          </a:prstGeom>
          <a:solidFill>
            <a:srgbClr val="2D5A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2</a:t>
            </a:r>
            <a:endParaRPr sz="22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191" name="Google Shape;191;p22"/>
          <p:cNvSpPr/>
          <p:nvPr/>
        </p:nvSpPr>
        <p:spPr>
          <a:xfrm>
            <a:off x="511175" y="3151175"/>
            <a:ext cx="467100" cy="467100"/>
          </a:xfrm>
          <a:prstGeom prst="ellipse">
            <a:avLst/>
          </a:prstGeom>
          <a:solidFill>
            <a:srgbClr val="2D5A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3</a:t>
            </a:r>
            <a:endParaRPr sz="22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192" name="Google Shape;192;p22"/>
          <p:cNvSpPr/>
          <p:nvPr/>
        </p:nvSpPr>
        <p:spPr>
          <a:xfrm>
            <a:off x="4572000" y="456300"/>
            <a:ext cx="4260300" cy="4230900"/>
          </a:xfrm>
          <a:prstGeom prst="roundRect">
            <a:avLst>
              <a:gd name="adj" fmla="val 16667"/>
            </a:avLst>
          </a:prstGeom>
          <a:solidFill>
            <a:srgbClr val="2D5A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22"/>
          <p:cNvSpPr txBox="1">
            <a:spLocks noGrp="1"/>
          </p:cNvSpPr>
          <p:nvPr>
            <p:ph type="title"/>
          </p:nvPr>
        </p:nvSpPr>
        <p:spPr>
          <a:xfrm>
            <a:off x="4973300" y="561675"/>
            <a:ext cx="42117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Impactos potenciais</a:t>
            </a:r>
            <a:endParaRPr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194" name="Google Shape;194;p22"/>
          <p:cNvSpPr txBox="1">
            <a:spLocks noGrp="1"/>
          </p:cNvSpPr>
          <p:nvPr>
            <p:ph type="body" idx="1"/>
          </p:nvPr>
        </p:nvSpPr>
        <p:spPr>
          <a:xfrm>
            <a:off x="4481675" y="1381200"/>
            <a:ext cx="4260300" cy="3126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0480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"/>
              <a:buChar char="●"/>
            </a:pPr>
            <a:r>
              <a:rPr lang="pt-BR" sz="12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Overbooking e necessidade de realocação de hóspedes;</a:t>
            </a:r>
            <a:endParaRPr sz="12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"/>
              <a:buChar char="●"/>
            </a:pPr>
            <a:r>
              <a:rPr lang="pt-BR" sz="12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Problemas na experiência e satisfação dos clientes;</a:t>
            </a:r>
            <a:endParaRPr sz="12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"/>
              <a:buChar char="●"/>
            </a:pPr>
            <a:r>
              <a:rPr lang="pt-BR" sz="12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Sobrecarga operacional das equipes;</a:t>
            </a:r>
            <a:endParaRPr sz="12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Merriweather"/>
              <a:buChar char="●"/>
            </a:pPr>
            <a:r>
              <a:rPr lang="pt-BR" sz="12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Risco de indisponibilidade de quartos;</a:t>
            </a:r>
            <a:endParaRPr sz="12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30480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1200"/>
              <a:buFont typeface="Merriweather"/>
              <a:buChar char="●"/>
            </a:pPr>
            <a:r>
              <a:rPr lang="pt-BR" sz="120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Revisão da capacidade cadastrada e da qualidade dos dados.</a:t>
            </a:r>
            <a:endParaRPr sz="120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3"/>
          <p:cNvSpPr txBox="1">
            <a:spLocks noGrp="1"/>
          </p:cNvSpPr>
          <p:nvPr>
            <p:ph type="title"/>
          </p:nvPr>
        </p:nvSpPr>
        <p:spPr>
          <a:xfrm>
            <a:off x="311700" y="25957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300" b="1" dirty="0">
                <a:solidFill>
                  <a:srgbClr val="2D5A27"/>
                </a:solidFill>
                <a:latin typeface="Merriweather"/>
                <a:sym typeface="Merriweather"/>
              </a:rPr>
              <a:t>Existe relação entre desempenho financeiro e percepção do hóspede?</a:t>
            </a:r>
            <a:endParaRPr sz="2300" b="1" dirty="0">
              <a:solidFill>
                <a:srgbClr val="2D5A27"/>
              </a:solidFill>
              <a:latin typeface="Merriweather"/>
              <a:sym typeface="Merriweather"/>
            </a:endParaRPr>
          </a:p>
        </p:txBody>
      </p:sp>
      <p:sp>
        <p:nvSpPr>
          <p:cNvPr id="201" name="Google Shape;201;p23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2" name="Google Shape;202;p23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8EE9B145-031C-9CBF-775E-B4D8FA6ABC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1700" y="1105425"/>
            <a:ext cx="5829344" cy="3158231"/>
          </a:xfrm>
          <a:prstGeom prst="rect">
            <a:avLst/>
          </a:prstGeom>
        </p:spPr>
      </p:pic>
      <p:sp>
        <p:nvSpPr>
          <p:cNvPr id="6" name="CaixaDeTexto 5">
            <a:extLst>
              <a:ext uri="{FF2B5EF4-FFF2-40B4-BE49-F238E27FC236}">
                <a16:creationId xmlns:a16="http://schemas.microsoft.com/office/drawing/2014/main" id="{65DF5CAD-DB40-FC1C-0E63-493395E58E98}"/>
              </a:ext>
            </a:extLst>
          </p:cNvPr>
          <p:cNvSpPr txBox="1"/>
          <p:nvPr/>
        </p:nvSpPr>
        <p:spPr>
          <a:xfrm>
            <a:off x="3848669" y="2797791"/>
            <a:ext cx="18473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pt-BR" dirty="0"/>
          </a:p>
        </p:txBody>
      </p:sp>
      <p:pic>
        <p:nvPicPr>
          <p:cNvPr id="12" name="Imagem 11">
            <a:extLst>
              <a:ext uri="{FF2B5EF4-FFF2-40B4-BE49-F238E27FC236}">
                <a16:creationId xmlns:a16="http://schemas.microsoft.com/office/drawing/2014/main" id="{7D4B9616-D1B8-A836-35C9-57919E15BB02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72325"/>
          <a:stretch>
            <a:fillRect/>
          </a:stretch>
        </p:blipFill>
        <p:spPr>
          <a:xfrm>
            <a:off x="6622453" y="782528"/>
            <a:ext cx="2059245" cy="4030525"/>
          </a:xfrm>
          <a:prstGeom prst="rect">
            <a:avLst/>
          </a:prstGeom>
        </p:spPr>
      </p:pic>
      <p:sp>
        <p:nvSpPr>
          <p:cNvPr id="13" name="Google Shape;112;p16">
            <a:extLst>
              <a:ext uri="{FF2B5EF4-FFF2-40B4-BE49-F238E27FC236}">
                <a16:creationId xmlns:a16="http://schemas.microsoft.com/office/drawing/2014/main" id="{73B55252-3A9E-672F-0365-A5AFE7765C1D}"/>
              </a:ext>
            </a:extLst>
          </p:cNvPr>
          <p:cNvSpPr txBox="1"/>
          <p:nvPr/>
        </p:nvSpPr>
        <p:spPr>
          <a:xfrm>
            <a:off x="202200" y="4229927"/>
            <a:ext cx="2069400" cy="6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Fonte: Monitoramento Nara </a:t>
            </a:r>
            <a:r>
              <a:rPr lang="pt-BR" sz="900" dirty="0" err="1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Hoteis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Atualizado em 22/09/2026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  <a:p>
            <a:pPr marL="0" lvl="0" indent="0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dirty="0">
                <a:solidFill>
                  <a:schemeClr val="dk2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Dados sujeitos a revisão</a:t>
            </a:r>
            <a:endParaRPr sz="900" dirty="0">
              <a:solidFill>
                <a:schemeClr val="dk2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/>
          <p:nvPr/>
        </p:nvSpPr>
        <p:spPr>
          <a:xfrm>
            <a:off x="6777288" y="1033951"/>
            <a:ext cx="1683300" cy="947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2" name="Google Shape;212;p24"/>
          <p:cNvSpPr/>
          <p:nvPr/>
        </p:nvSpPr>
        <p:spPr>
          <a:xfrm>
            <a:off x="4740738" y="1033963"/>
            <a:ext cx="1683300" cy="947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3" name="Google Shape;213;p24"/>
          <p:cNvSpPr/>
          <p:nvPr/>
        </p:nvSpPr>
        <p:spPr>
          <a:xfrm>
            <a:off x="2675288" y="1017888"/>
            <a:ext cx="1683300" cy="947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4" name="Google Shape;214;p24"/>
          <p:cNvSpPr/>
          <p:nvPr/>
        </p:nvSpPr>
        <p:spPr>
          <a:xfrm>
            <a:off x="654625" y="1043075"/>
            <a:ext cx="1597800" cy="899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highlight>
                <a:schemeClr val="lt1"/>
              </a:highlight>
            </a:endParaRPr>
          </a:p>
        </p:txBody>
      </p:sp>
      <p:sp>
        <p:nvSpPr>
          <p:cNvPr id="215" name="Google Shape;215;p24"/>
          <p:cNvSpPr txBox="1">
            <a:spLocks noGrp="1"/>
          </p:cNvSpPr>
          <p:nvPr>
            <p:ph type="title"/>
          </p:nvPr>
        </p:nvSpPr>
        <p:spPr>
          <a:xfrm>
            <a:off x="311700" y="31694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caso Copacabana Premium</a:t>
            </a:r>
            <a:endParaRPr/>
          </a:p>
        </p:txBody>
      </p:sp>
      <p:sp>
        <p:nvSpPr>
          <p:cNvPr id="216" name="Google Shape;216;p24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24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8" name="Google Shape;218;p24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4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20" name="Google Shape;220;p24"/>
          <p:cNvGraphicFramePr/>
          <p:nvPr/>
        </p:nvGraphicFramePr>
        <p:xfrm>
          <a:off x="979475" y="2125975"/>
          <a:ext cx="7239000" cy="2684498"/>
        </p:xfrm>
        <a:graphic>
          <a:graphicData uri="http://schemas.openxmlformats.org/drawingml/2006/table">
            <a:tbl>
              <a:tblPr>
                <a:noFill/>
                <a:tableStyleId>{41F1F7F1-9ACD-4A7A-9FF1-98A3A87BC6FC}</a:tableStyleId>
              </a:tblPr>
              <a:tblGrid>
                <a:gridCol w="23051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501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837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Indicador</a:t>
                      </a:r>
                      <a:endParaRPr sz="1300" b="1"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Copacabana Premium</a:t>
                      </a:r>
                      <a:endParaRPr sz="1300" b="1"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 b="1">
                          <a:solidFill>
                            <a:schemeClr val="lt1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Demais unidades</a:t>
                      </a:r>
                      <a:endParaRPr sz="1300" b="1">
                        <a:solidFill>
                          <a:schemeClr val="lt1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Receita estimada</a:t>
                      </a:r>
                      <a:endParaRPr sz="13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R$ 252.070,00</a:t>
                      </a:r>
                      <a:endParaRPr sz="13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R$ 347.130,00 a R$ 739.380,00</a:t>
                      </a:r>
                      <a:endParaRPr sz="13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Receita por quarto</a:t>
                      </a:r>
                      <a:endParaRPr sz="13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R$ </a:t>
                      </a: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6.301,75</a:t>
                      </a:r>
                      <a:r>
                        <a:rPr lang="pt-BR" sz="1300">
                          <a:solidFill>
                            <a:schemeClr val="dk1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 </a:t>
                      </a:r>
                      <a:endParaRPr sz="13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Média de R$ 9.664,59</a:t>
                      </a:r>
                      <a:r>
                        <a:rPr lang="pt-BR" sz="1300">
                          <a:solidFill>
                            <a:schemeClr val="dk1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 </a:t>
                      </a:r>
                      <a:endParaRPr sz="1300"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91425" marR="91425" marT="91425" marB="914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Diferença contra a média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−34,8%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—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Quartos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40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45 a 120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Reservas válidas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112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271 a 410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Diárias vendidas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315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300">
                          <a:solidFill>
                            <a:srgbClr val="1E293B"/>
                          </a:solidFill>
                          <a:latin typeface="Merriweather Medium"/>
                          <a:ea typeface="Merriweather Medium"/>
                          <a:cs typeface="Merriweather Medium"/>
                          <a:sym typeface="Merriweather Medium"/>
                        </a:rPr>
                        <a:t>872 a 1.105</a:t>
                      </a:r>
                      <a:endParaRPr sz="1300">
                        <a:solidFill>
                          <a:srgbClr val="1E293B"/>
                        </a:solidFill>
                        <a:latin typeface="Merriweather Medium"/>
                        <a:ea typeface="Merriweather Medium"/>
                        <a:cs typeface="Merriweather Medium"/>
                        <a:sym typeface="Merriweather Medium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221" name="Google Shape;221;p24"/>
          <p:cNvSpPr txBox="1"/>
          <p:nvPr/>
        </p:nvSpPr>
        <p:spPr>
          <a:xfrm>
            <a:off x="654500" y="997700"/>
            <a:ext cx="15978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 b="1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Receita estimada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R$ 252.070</a:t>
            </a:r>
            <a:endParaRPr sz="1900" b="1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None/>
            </a:pPr>
            <a:r>
              <a:rPr lang="pt-BR" sz="900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Menor receita da rede</a:t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222" name="Google Shape;222;p24"/>
          <p:cNvSpPr txBox="1"/>
          <p:nvPr/>
        </p:nvSpPr>
        <p:spPr>
          <a:xfrm>
            <a:off x="2711100" y="997700"/>
            <a:ext cx="15573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 b="1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Receita por quarto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R$ 6.301,75</a:t>
            </a:r>
            <a:endParaRPr sz="1900" b="1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34,8% abaixo da média da rede</a:t>
            </a:r>
            <a:endParaRPr sz="900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2"/>
              </a:solidFill>
            </a:endParaRPr>
          </a:p>
        </p:txBody>
      </p:sp>
      <p:sp>
        <p:nvSpPr>
          <p:cNvPr id="223" name="Google Shape;223;p24"/>
          <p:cNvSpPr txBox="1"/>
          <p:nvPr/>
        </p:nvSpPr>
        <p:spPr>
          <a:xfrm>
            <a:off x="4781575" y="997800"/>
            <a:ext cx="16401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 b="1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RevPAR corrigido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10,98</a:t>
            </a:r>
            <a:endParaRPr sz="1900" b="1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2º maior RevPAR da rede</a:t>
            </a:r>
            <a:endParaRPr sz="900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24" name="Google Shape;224;p24"/>
          <p:cNvSpPr txBox="1"/>
          <p:nvPr/>
        </p:nvSpPr>
        <p:spPr>
          <a:xfrm>
            <a:off x="6806200" y="997700"/>
            <a:ext cx="16833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 b="1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Diária média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19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R$ 800,22</a:t>
            </a:r>
            <a:endParaRPr sz="1900" b="1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pt-BR" sz="900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Maior diária média da rede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25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0" name="Google Shape;230;p25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1" name="Google Shape;231;p25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5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3" name="Google Shape;233;p25"/>
          <p:cNvSpPr txBox="1">
            <a:spLocks noGrp="1"/>
          </p:cNvSpPr>
          <p:nvPr>
            <p:ph type="title"/>
          </p:nvPr>
        </p:nvSpPr>
        <p:spPr>
          <a:xfrm>
            <a:off x="311700" y="31694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/>
              <a:t>O caso Copacabana Premium</a:t>
            </a:r>
            <a:endParaRPr/>
          </a:p>
        </p:txBody>
      </p:sp>
      <p:pic>
        <p:nvPicPr>
          <p:cNvPr id="234" name="Google Shape;234;p25" title="Copacabana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1502" y="889650"/>
            <a:ext cx="6180998" cy="3912750"/>
          </a:xfrm>
          <a:prstGeom prst="rect">
            <a:avLst/>
          </a:prstGeom>
          <a:noFill/>
          <a:ln w="38100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</p:pic>
      <p:pic>
        <p:nvPicPr>
          <p:cNvPr id="235" name="Google Shape;235;p2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776800" y="83550"/>
            <a:ext cx="1055501" cy="10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36" name="Google Shape;236;p25"/>
          <p:cNvSpPr txBox="1"/>
          <p:nvPr/>
        </p:nvSpPr>
        <p:spPr>
          <a:xfrm>
            <a:off x="7757350" y="880150"/>
            <a:ext cx="109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Nara Hotéis</a:t>
            </a:r>
            <a:endParaRPr sz="1100"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6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26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6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6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5" name="Google Shape;245;p26"/>
          <p:cNvSpPr txBox="1">
            <a:spLocks noGrp="1"/>
          </p:cNvSpPr>
          <p:nvPr>
            <p:ph type="title"/>
          </p:nvPr>
        </p:nvSpPr>
        <p:spPr>
          <a:xfrm>
            <a:off x="311700" y="316943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b="1">
                <a:latin typeface="Merriweather"/>
                <a:ea typeface="Merriweather"/>
                <a:cs typeface="Merriweather"/>
                <a:sym typeface="Merriweather"/>
              </a:rPr>
              <a:t>O caso Copacabana Premium</a:t>
            </a:r>
            <a:endParaRPr b="1"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46" name="Google Shape;246;p26"/>
          <p:cNvSpPr txBox="1"/>
          <p:nvPr/>
        </p:nvSpPr>
        <p:spPr>
          <a:xfrm>
            <a:off x="311700" y="736101"/>
            <a:ext cx="7320900" cy="39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300">
                <a:solidFill>
                  <a:srgbClr val="2D5A27"/>
                </a:solidFill>
                <a:latin typeface="Merriweather Medium"/>
                <a:ea typeface="Merriweather Medium"/>
                <a:cs typeface="Merriweather Medium"/>
                <a:sym typeface="Merriweather Medium"/>
              </a:rPr>
              <a:t>E se fizermos um ranking invertido?</a:t>
            </a:r>
            <a:endParaRPr sz="1300">
              <a:solidFill>
                <a:srgbClr val="2D5A27"/>
              </a:solidFill>
              <a:latin typeface="Merriweather Medium"/>
              <a:ea typeface="Merriweather Medium"/>
              <a:cs typeface="Merriweather Medium"/>
              <a:sym typeface="Merriweather Medium"/>
            </a:endParaRPr>
          </a:p>
        </p:txBody>
      </p:sp>
      <p:graphicFrame>
        <p:nvGraphicFramePr>
          <p:cNvPr id="247" name="Google Shape;247;p26"/>
          <p:cNvGraphicFramePr/>
          <p:nvPr/>
        </p:nvGraphicFramePr>
        <p:xfrm>
          <a:off x="952500" y="2298466"/>
          <a:ext cx="7239000" cy="2565528"/>
        </p:xfrm>
        <a:graphic>
          <a:graphicData uri="http://schemas.openxmlformats.org/drawingml/2006/table">
            <a:tbl>
              <a:tblPr>
                <a:noFill/>
                <a:tableStyleId>{41F1F7F1-9ACD-4A7A-9FF1-98A3A87BC6FC}</a:tableStyleId>
              </a:tblPr>
              <a:tblGrid>
                <a:gridCol w="1206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065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Unidade 5 estrelas</a:t>
                      </a:r>
                      <a:endParaRPr sz="1000" b="1">
                        <a:solidFill>
                          <a:srgbClr val="FFFFF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5250" marR="95250" marT="95250" marB="95250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RevPAR</a:t>
                      </a:r>
                      <a:endParaRPr sz="1000" b="1">
                        <a:solidFill>
                          <a:srgbClr val="FFFFF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5250" marR="95250" marT="95250" marB="95250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Diária média</a:t>
                      </a:r>
                      <a:endParaRPr sz="1000" b="1">
                        <a:solidFill>
                          <a:srgbClr val="FFFFF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5250" marR="95250" marT="95250" marB="95250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Receita/quarto</a:t>
                      </a:r>
                      <a:endParaRPr sz="1000" b="1">
                        <a:solidFill>
                          <a:srgbClr val="FFFFF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5250" marR="95250" marT="95250" marB="95250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Quartos</a:t>
                      </a:r>
                      <a:endParaRPr sz="1000" b="1">
                        <a:solidFill>
                          <a:srgbClr val="FFFFF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5250" marR="95250" marT="95250" marB="95250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FFFFFF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Dias</a:t>
                      </a:r>
                      <a:endParaRPr sz="1000" b="1">
                        <a:solidFill>
                          <a:srgbClr val="FFFFFF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95250" marR="95250" marT="95250" marB="95250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2D5A2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Copacabana Premium</a:t>
                      </a:r>
                      <a:endParaRPr sz="1000" b="1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10,98</a:t>
                      </a:r>
                      <a:endParaRPr sz="1000" b="1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R$ 800,22</a:t>
                      </a:r>
                      <a:endParaRPr sz="1000" b="1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R$ 6.301,75</a:t>
                      </a:r>
                      <a:endParaRPr sz="1000" b="1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40</a:t>
                      </a:r>
                      <a:endParaRPr sz="1000" b="1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 b="1" u="sng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574</a:t>
                      </a:r>
                      <a:endParaRPr sz="1000" b="1" u="sng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Paraty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7,36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R$ 683,98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R$ 9.858,40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75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1.340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Petrópolis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6,85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R$ 636,60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R$ 9.167,00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70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1.338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Ipanema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6,07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R$ 631,30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R$ 8.057,00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80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1.327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Angra dos Reis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5,52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R$ 682,12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R$ 7.336,56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90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1900"/>
                        </a:spcBef>
                        <a:spcAft>
                          <a:spcPts val="1900"/>
                        </a:spcAft>
                        <a:buNone/>
                      </a:pPr>
                      <a:r>
                        <a:rPr lang="pt-BR" sz="1000">
                          <a:solidFill>
                            <a:srgbClr val="1E293B"/>
                          </a:solidFill>
                          <a:latin typeface="Merriweather"/>
                          <a:ea typeface="Merriweather"/>
                          <a:cs typeface="Merriweather"/>
                          <a:sym typeface="Merriweather"/>
                        </a:rPr>
                        <a:t>1.328</a:t>
                      </a:r>
                      <a:endParaRPr sz="1000">
                        <a:solidFill>
                          <a:srgbClr val="1E293B"/>
                        </a:solidFill>
                        <a:latin typeface="Merriweather"/>
                        <a:ea typeface="Merriweather"/>
                        <a:cs typeface="Merriweather"/>
                        <a:sym typeface="Merriweather"/>
                      </a:endParaRPr>
                    </a:p>
                  </a:txBody>
                  <a:tcPr marL="85725" marR="85725" marT="85725" marB="85725">
                    <a:lnL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2D5A27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5F7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248" name="Google Shape;248;p26"/>
          <p:cNvSpPr/>
          <p:nvPr/>
        </p:nvSpPr>
        <p:spPr>
          <a:xfrm>
            <a:off x="6777300" y="1202475"/>
            <a:ext cx="1683300" cy="996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9" name="Google Shape;249;p26"/>
          <p:cNvSpPr/>
          <p:nvPr/>
        </p:nvSpPr>
        <p:spPr>
          <a:xfrm>
            <a:off x="4740750" y="1202500"/>
            <a:ext cx="1683300" cy="996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0" name="Google Shape;250;p26"/>
          <p:cNvSpPr/>
          <p:nvPr/>
        </p:nvSpPr>
        <p:spPr>
          <a:xfrm>
            <a:off x="2587779" y="1186426"/>
            <a:ext cx="1770900" cy="996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1" name="Google Shape;251;p26"/>
          <p:cNvSpPr/>
          <p:nvPr/>
        </p:nvSpPr>
        <p:spPr>
          <a:xfrm>
            <a:off x="612325" y="1187300"/>
            <a:ext cx="1640100" cy="9969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2" name="Google Shape;252;p26"/>
          <p:cNvSpPr txBox="1"/>
          <p:nvPr/>
        </p:nvSpPr>
        <p:spPr>
          <a:xfrm>
            <a:off x="654500" y="1166225"/>
            <a:ext cx="15978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Tempo de operação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574 dias</a:t>
            </a:r>
            <a:endParaRPr sz="1900" b="1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Primeiro check-in em 24/01/2025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3" name="Google Shape;253;p26"/>
          <p:cNvSpPr txBox="1"/>
          <p:nvPr/>
        </p:nvSpPr>
        <p:spPr>
          <a:xfrm>
            <a:off x="2711100" y="1166225"/>
            <a:ext cx="15573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Capacidade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40 quartos</a:t>
            </a:r>
            <a:endParaRPr sz="1900" b="1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Menor capacidade da rede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4" name="Google Shape;254;p26"/>
          <p:cNvSpPr txBox="1"/>
          <p:nvPr/>
        </p:nvSpPr>
        <p:spPr>
          <a:xfrm>
            <a:off x="4781575" y="1166325"/>
            <a:ext cx="16401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RevPAR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10,98</a:t>
            </a:r>
            <a:endParaRPr sz="1900" b="1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41,9% acima da média da rede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55" name="Google Shape;255;p26"/>
          <p:cNvSpPr txBox="1"/>
          <p:nvPr/>
        </p:nvSpPr>
        <p:spPr>
          <a:xfrm>
            <a:off x="6806200" y="1166225"/>
            <a:ext cx="1683300" cy="76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pt-BR" sz="900" b="1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Diária média</a:t>
            </a:r>
            <a:endParaRPr sz="900" b="1">
              <a:solidFill>
                <a:srgbClr val="64748B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190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R$ 800,22</a:t>
            </a:r>
            <a:endParaRPr sz="1900" b="1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lang="pt-BR" sz="900">
                <a:solidFill>
                  <a:srgbClr val="64748B"/>
                </a:solidFill>
                <a:latin typeface="Merriweather"/>
                <a:ea typeface="Merriweather"/>
                <a:cs typeface="Merriweather"/>
                <a:sym typeface="Merriweather"/>
              </a:rPr>
              <a:t>Maior diária média da rede</a:t>
            </a:r>
            <a:endParaRPr sz="1800">
              <a:solidFill>
                <a:schemeClr val="dk2"/>
              </a:solidFill>
            </a:endParaRPr>
          </a:p>
        </p:txBody>
      </p:sp>
      <p:pic>
        <p:nvPicPr>
          <p:cNvPr id="256" name="Google Shape;256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776800" y="83550"/>
            <a:ext cx="1055501" cy="1055501"/>
          </a:xfrm>
          <a:prstGeom prst="rect">
            <a:avLst/>
          </a:prstGeom>
          <a:noFill/>
          <a:ln>
            <a:noFill/>
          </a:ln>
        </p:spPr>
      </p:pic>
      <p:sp>
        <p:nvSpPr>
          <p:cNvPr id="257" name="Google Shape;257;p26"/>
          <p:cNvSpPr txBox="1"/>
          <p:nvPr/>
        </p:nvSpPr>
        <p:spPr>
          <a:xfrm>
            <a:off x="7757350" y="880150"/>
            <a:ext cx="1094400" cy="35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100" b="1">
                <a:solidFill>
                  <a:schemeClr val="dk1"/>
                </a:solidFill>
                <a:latin typeface="Merriweather"/>
                <a:ea typeface="Merriweather"/>
                <a:cs typeface="Merriweather"/>
                <a:sym typeface="Merriweather"/>
              </a:rPr>
              <a:t>Nara Hotéis</a:t>
            </a:r>
            <a:endParaRPr sz="1100" b="1">
              <a:solidFill>
                <a:schemeClr val="dk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7"/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3" name="Google Shape;263;p27"/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4" name="Google Shape;264;p27"/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5" name="Google Shape;265;p27"/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6" name="Google Shape;266;p27"/>
          <p:cNvSpPr/>
          <p:nvPr/>
        </p:nvSpPr>
        <p:spPr>
          <a:xfrm>
            <a:off x="381275" y="456300"/>
            <a:ext cx="4006500" cy="4254000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7"/>
          <p:cNvSpPr txBox="1">
            <a:spLocks noGrp="1"/>
          </p:cNvSpPr>
          <p:nvPr>
            <p:ph type="title"/>
          </p:nvPr>
        </p:nvSpPr>
        <p:spPr>
          <a:xfrm>
            <a:off x="775974" y="541965"/>
            <a:ext cx="3240900" cy="563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20" b="1">
                <a:solidFill>
                  <a:srgbClr val="2D5A27"/>
                </a:solidFill>
                <a:latin typeface="Merriweather"/>
                <a:ea typeface="Merriweather"/>
                <a:cs typeface="Merriweather"/>
                <a:sym typeface="Merriweather"/>
              </a:rPr>
              <a:t>Ranking invertido</a:t>
            </a:r>
            <a:endParaRPr sz="2020" b="1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pt-BR" sz="2020">
                <a:solidFill>
                  <a:srgbClr val="2D5A27"/>
                </a:solidFill>
                <a:latin typeface="Merriweather Light"/>
                <a:ea typeface="Merriweather Light"/>
                <a:cs typeface="Merriweather Light"/>
                <a:sym typeface="Merriweather Light"/>
              </a:rPr>
              <a:t>Principais achados</a:t>
            </a:r>
            <a:endParaRPr sz="2020">
              <a:solidFill>
                <a:srgbClr val="2D5A27"/>
              </a:solidFill>
              <a:latin typeface="Merriweather Light"/>
              <a:ea typeface="Merriweather Light"/>
              <a:cs typeface="Merriweather Light"/>
              <a:sym typeface="Merriweather Light"/>
            </a:endParaRPr>
          </a:p>
        </p:txBody>
      </p:sp>
      <p:sp>
        <p:nvSpPr>
          <p:cNvPr id="268" name="Google Shape;268;p27"/>
          <p:cNvSpPr txBox="1">
            <a:spLocks noGrp="1"/>
          </p:cNvSpPr>
          <p:nvPr>
            <p:ph type="body" idx="1"/>
          </p:nvPr>
        </p:nvSpPr>
        <p:spPr>
          <a:xfrm>
            <a:off x="1000700" y="1258175"/>
            <a:ext cx="3322800" cy="3363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77500" lnSpcReduction="2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SzPct val="74130"/>
              <a:buNone/>
            </a:pP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Copacabana Premium salta da última para a primeira posição.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É a unidade com a maior inversão do grupo: </a:t>
            </a: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5ª em receita estimada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e </a:t>
            </a: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1ª em </a:t>
            </a:r>
            <a:r>
              <a:rPr lang="pt-BR" sz="1150" b="1" dirty="0" err="1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RevPAR</a:t>
            </a: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corrigido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(+4 posições). Isso confirma que o baixo faturamento acumulado reflete o menor porte e o menor tempo de operação da unidade, e não um desempenho operacional inferior.</a:t>
            </a:r>
            <a:r>
              <a:rPr lang="pt-BR" sz="11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200"/>
              </a:spcBef>
              <a:spcAft>
                <a:spcPts val="0"/>
              </a:spcAft>
              <a:buSzPct val="74130"/>
              <a:buNone/>
            </a:pP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Liderar em receita não significa liderar em eficiência.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Paraty tem a </a:t>
            </a: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maior receita estimada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do grupo (R$ 739.380,00), mas cai para a </a:t>
            </a: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2ª posição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quando o indicador é o </a:t>
            </a:r>
            <a:r>
              <a:rPr lang="pt-BR" sz="1150" dirty="0" err="1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RevPAR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corrigido. O volume acumulado de receita não garante a melhor relação entre diária e ocupação.</a:t>
            </a:r>
            <a:r>
              <a:rPr lang="pt-BR" sz="11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0" lvl="0" indent="0" algn="l" rtl="0">
              <a:spcBef>
                <a:spcPts val="1200"/>
              </a:spcBef>
              <a:spcAft>
                <a:spcPts val="1200"/>
              </a:spcAft>
              <a:buSzPct val="74130"/>
              <a:buNone/>
            </a:pP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Angra dos Reis tem a maior queda do ranking.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Apesar de ocupar a </a:t>
            </a: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2ª posição em receita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(R$ 660.290,40), a unidade cai para o </a:t>
            </a: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5º e último lugar em </a:t>
            </a:r>
            <a:r>
              <a:rPr lang="pt-BR" sz="1150" b="1" dirty="0" err="1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RevPAR</a:t>
            </a:r>
            <a:r>
              <a:rPr lang="pt-BR" sz="1150" b="1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corrigido</a:t>
            </a:r>
            <a:r>
              <a:rPr lang="pt-BR" sz="1150" dirty="0">
                <a:solidFill>
                  <a:srgbClr val="1E293B"/>
                </a:solidFill>
                <a:highlight>
                  <a:srgbClr val="F8FAFC"/>
                </a:highlight>
                <a:latin typeface="Merriweather"/>
                <a:ea typeface="Merriweather"/>
                <a:cs typeface="Merriweather"/>
                <a:sym typeface="Merriweather"/>
              </a:rPr>
              <a:t> (−3 posições), indicando que sua receita relativamente alta não se traduz em eficiência por quarto/dia de operação.</a:t>
            </a:r>
            <a:r>
              <a:rPr lang="pt-BR" sz="1100" dirty="0">
                <a:solidFill>
                  <a:schemeClr val="dk1"/>
                </a:solidFill>
              </a:rPr>
              <a:t> </a:t>
            </a:r>
            <a:endParaRPr sz="1200" dirty="0">
              <a:solidFill>
                <a:srgbClr val="2D5A27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  <p:sp>
        <p:nvSpPr>
          <p:cNvPr id="269" name="Google Shape;269;p27"/>
          <p:cNvSpPr/>
          <p:nvPr/>
        </p:nvSpPr>
        <p:spPr>
          <a:xfrm>
            <a:off x="511175" y="1347550"/>
            <a:ext cx="467100" cy="467100"/>
          </a:xfrm>
          <a:prstGeom prst="ellipse">
            <a:avLst/>
          </a:prstGeom>
          <a:solidFill>
            <a:srgbClr val="2D5A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1</a:t>
            </a:r>
            <a:endParaRPr sz="22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270" name="Google Shape;270;p27"/>
          <p:cNvSpPr/>
          <p:nvPr/>
        </p:nvSpPr>
        <p:spPr>
          <a:xfrm>
            <a:off x="511175" y="2385819"/>
            <a:ext cx="467100" cy="467100"/>
          </a:xfrm>
          <a:prstGeom prst="ellipse">
            <a:avLst/>
          </a:prstGeom>
          <a:solidFill>
            <a:srgbClr val="2D5A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 dirty="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2</a:t>
            </a:r>
            <a:endParaRPr sz="2200" dirty="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271" name="Google Shape;271;p27"/>
          <p:cNvSpPr/>
          <p:nvPr/>
        </p:nvSpPr>
        <p:spPr>
          <a:xfrm>
            <a:off x="511175" y="3336735"/>
            <a:ext cx="467100" cy="467100"/>
          </a:xfrm>
          <a:prstGeom prst="ellipse">
            <a:avLst/>
          </a:prstGeom>
          <a:solidFill>
            <a:srgbClr val="2D5A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lt1"/>
                </a:solidFill>
                <a:latin typeface="Merriweather Black"/>
                <a:ea typeface="Merriweather Black"/>
                <a:cs typeface="Merriweather Black"/>
                <a:sym typeface="Merriweather Black"/>
              </a:rPr>
              <a:t>3</a:t>
            </a:r>
            <a:endParaRPr sz="2200">
              <a:solidFill>
                <a:schemeClr val="lt1"/>
              </a:solidFill>
              <a:latin typeface="Merriweather Black"/>
              <a:ea typeface="Merriweather Black"/>
              <a:cs typeface="Merriweather Black"/>
              <a:sym typeface="Merriweather Black"/>
            </a:endParaRPr>
          </a:p>
        </p:txBody>
      </p:sp>
      <p:sp>
        <p:nvSpPr>
          <p:cNvPr id="272" name="Google Shape;272;p27"/>
          <p:cNvSpPr/>
          <p:nvPr/>
        </p:nvSpPr>
        <p:spPr>
          <a:xfrm>
            <a:off x="4572000" y="456300"/>
            <a:ext cx="4260300" cy="4230900"/>
          </a:xfrm>
          <a:prstGeom prst="roundRect">
            <a:avLst>
              <a:gd name="adj" fmla="val 16667"/>
            </a:avLst>
          </a:prstGeom>
          <a:solidFill>
            <a:srgbClr val="2D5A27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3" name="Google Shape;273;p27"/>
          <p:cNvSpPr txBox="1">
            <a:spLocks noGrp="1"/>
          </p:cNvSpPr>
          <p:nvPr>
            <p:ph type="title"/>
          </p:nvPr>
        </p:nvSpPr>
        <p:spPr>
          <a:xfrm>
            <a:off x="4590650" y="581900"/>
            <a:ext cx="4151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pt-BR">
                <a:solidFill>
                  <a:schemeClr val="lt1"/>
                </a:solidFill>
                <a:latin typeface="Merriweather SemiBold"/>
                <a:ea typeface="Merriweather SemiBold"/>
                <a:cs typeface="Merriweather SemiBold"/>
                <a:sym typeface="Merriweather SemiBold"/>
              </a:rPr>
              <a:t>Resultado</a:t>
            </a:r>
            <a:endParaRPr>
              <a:solidFill>
                <a:schemeClr val="lt1"/>
              </a:solidFill>
              <a:latin typeface="Merriweather SemiBold"/>
              <a:ea typeface="Merriweather SemiBold"/>
              <a:cs typeface="Merriweather SemiBold"/>
              <a:sym typeface="Merriweather SemiBold"/>
            </a:endParaRPr>
          </a:p>
        </p:txBody>
      </p:sp>
      <p:sp>
        <p:nvSpPr>
          <p:cNvPr id="274" name="Google Shape;274;p27"/>
          <p:cNvSpPr txBox="1">
            <a:spLocks noGrp="1"/>
          </p:cNvSpPr>
          <p:nvPr>
            <p:ph type="body" idx="1"/>
          </p:nvPr>
        </p:nvSpPr>
        <p:spPr>
          <a:xfrm>
            <a:off x="4481675" y="1258175"/>
            <a:ext cx="4260300" cy="3452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28575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"/>
              <a:buChar char="●"/>
            </a:pP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 </a:t>
            </a:r>
            <a:r>
              <a:rPr lang="pt-BR" sz="880" dirty="0" err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NaraHoteis</a:t>
            </a: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Copacabana Premium é a </a:t>
            </a:r>
            <a:r>
              <a:rPr lang="pt-BR" sz="880" b="1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última colocada em receita estimada (R$ 252.070,00)</a:t>
            </a: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e está 34,8% abaixo da média da rede em receita por quarto.</a:t>
            </a:r>
            <a:endParaRPr sz="88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"/>
              <a:buChar char="●"/>
            </a:pP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Entretanto, a receita acumulada não deve ser interpretada isoladamente. A unidade possui apenas </a:t>
            </a:r>
            <a:r>
              <a:rPr lang="pt-BR" sz="880" b="1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40 quartos e opera há</a:t>
            </a: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</a:t>
            </a:r>
            <a:b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</a:br>
            <a:r>
              <a:rPr lang="pt-BR" sz="880" b="1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574 dias</a:t>
            </a: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, enquanto as demais unidades comparáveis possuem períodos de operação muito maiores. </a:t>
            </a:r>
            <a:endParaRPr sz="88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Merriweather"/>
              <a:buChar char="●"/>
            </a:pP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Quando os indicadores são normalizados por capacidade e tempo de operação, o cenário muda: o </a:t>
            </a:r>
            <a:r>
              <a:rPr lang="pt-BR" sz="880" b="1" dirty="0" err="1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RevPAR</a:t>
            </a:r>
            <a:r>
              <a:rPr lang="pt-BR" sz="880" b="1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corrigido é de 10,98, o 2º maior da rede</a:t>
            </a: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e o maior entre as unidades 5 estrelas analisadas. </a:t>
            </a:r>
            <a:endParaRPr sz="880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  <a:p>
            <a:pPr marL="457200" lvl="0" indent="-285750" algn="l" rtl="0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Merriweather"/>
              <a:buChar char="●"/>
            </a:pP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A diária média de </a:t>
            </a:r>
            <a:r>
              <a:rPr lang="pt-BR" sz="880" b="1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R$ 800,22</a:t>
            </a:r>
            <a:r>
              <a:rPr lang="pt-BR" sz="880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 também é a maior da rede. Portanto, o baixo faturamento acumulado está relacionado principalmente ao menor tempo de operação e ao </a:t>
            </a:r>
            <a:r>
              <a:rPr lang="pt-BR" sz="880" b="1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menor volume acumulado de diárias vendidas</a:t>
            </a:r>
            <a:r>
              <a:rPr lang="pt-BR" sz="900" b="1" dirty="0">
                <a:solidFill>
                  <a:schemeClr val="lt1"/>
                </a:solidFill>
                <a:latin typeface="Merriweather"/>
                <a:ea typeface="Merriweather"/>
                <a:cs typeface="Merriweather"/>
                <a:sym typeface="Merriweather"/>
              </a:rPr>
              <a:t>.</a:t>
            </a:r>
            <a:endParaRPr sz="900" b="1" dirty="0">
              <a:solidFill>
                <a:schemeClr val="lt1"/>
              </a:solidFill>
              <a:latin typeface="Merriweather"/>
              <a:ea typeface="Merriweather"/>
              <a:cs typeface="Merriweather"/>
              <a:sym typeface="Merriweather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Shape 134">
          <a:extLst>
            <a:ext uri="{FF2B5EF4-FFF2-40B4-BE49-F238E27FC236}">
              <a16:creationId xmlns:a16="http://schemas.microsoft.com/office/drawing/2014/main" id="{F66AE4CA-2AE8-47DF-A405-85D5DB06D6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18">
            <a:extLst>
              <a:ext uri="{FF2B5EF4-FFF2-40B4-BE49-F238E27FC236}">
                <a16:creationId xmlns:a16="http://schemas.microsoft.com/office/drawing/2014/main" id="{B4FFF1B8-ED83-9EDF-D5E7-0C594621AF05}"/>
              </a:ext>
            </a:extLst>
          </p:cNvPr>
          <p:cNvSpPr/>
          <p:nvPr/>
        </p:nvSpPr>
        <p:spPr>
          <a:xfrm>
            <a:off x="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7" name="Google Shape;137;p18">
            <a:extLst>
              <a:ext uri="{FF2B5EF4-FFF2-40B4-BE49-F238E27FC236}">
                <a16:creationId xmlns:a16="http://schemas.microsoft.com/office/drawing/2014/main" id="{2F205ACF-1F2A-CD51-B9A7-17C9A439A12B}"/>
              </a:ext>
            </a:extLst>
          </p:cNvPr>
          <p:cNvSpPr/>
          <p:nvPr/>
        </p:nvSpPr>
        <p:spPr>
          <a:xfrm>
            <a:off x="0" y="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8" name="Google Shape;138;p18">
            <a:extLst>
              <a:ext uri="{FF2B5EF4-FFF2-40B4-BE49-F238E27FC236}">
                <a16:creationId xmlns:a16="http://schemas.microsoft.com/office/drawing/2014/main" id="{1C51E35B-8812-B4C2-7AA7-2D41CE24F355}"/>
              </a:ext>
            </a:extLst>
          </p:cNvPr>
          <p:cNvSpPr/>
          <p:nvPr/>
        </p:nvSpPr>
        <p:spPr>
          <a:xfrm>
            <a:off x="8941800" y="0"/>
            <a:ext cx="202200" cy="51435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18">
            <a:extLst>
              <a:ext uri="{FF2B5EF4-FFF2-40B4-BE49-F238E27FC236}">
                <a16:creationId xmlns:a16="http://schemas.microsoft.com/office/drawing/2014/main" id="{F8AF943A-D0A5-3EF7-DF73-6EADA565198D}"/>
              </a:ext>
            </a:extLst>
          </p:cNvPr>
          <p:cNvSpPr/>
          <p:nvPr/>
        </p:nvSpPr>
        <p:spPr>
          <a:xfrm>
            <a:off x="0" y="4954800"/>
            <a:ext cx="9144000" cy="188700"/>
          </a:xfrm>
          <a:prstGeom prst="rect">
            <a:avLst/>
          </a:prstGeom>
          <a:solidFill>
            <a:srgbClr val="2D5A27"/>
          </a:solidFill>
          <a:ln w="9525" cap="flat" cmpd="sng">
            <a:solidFill>
              <a:srgbClr val="2D5A27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B025C252-CBDA-45C5-873F-756866F32B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9114" y="321829"/>
            <a:ext cx="3650272" cy="2423290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C3C87480-769F-D4F6-4CBA-4D9F05574D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8859" y="1419726"/>
            <a:ext cx="5076027" cy="33697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3146425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344</TotalTime>
  <Words>983</Words>
  <Application>Microsoft Office PowerPoint</Application>
  <PresentationFormat>Apresentação na tela (16:9)</PresentationFormat>
  <Paragraphs>212</Paragraphs>
  <Slides>20</Slides>
  <Notes>20</Notes>
  <HiddenSlides>1</HiddenSlides>
  <MMClips>0</MMClips>
  <ScaleCrop>false</ScaleCrop>
  <HeadingPairs>
    <vt:vector size="6" baseType="variant">
      <vt:variant>
        <vt:lpstr>Fontes usadas</vt:lpstr>
      </vt:variant>
      <vt:variant>
        <vt:i4>7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20</vt:i4>
      </vt:variant>
    </vt:vector>
  </HeadingPairs>
  <TitlesOfParts>
    <vt:vector size="28" baseType="lpstr">
      <vt:lpstr>Merriweather Black</vt:lpstr>
      <vt:lpstr>Merriweather Medium</vt:lpstr>
      <vt:lpstr>Merriweather ExtraBold</vt:lpstr>
      <vt:lpstr>Arial</vt:lpstr>
      <vt:lpstr>Merriweather</vt:lpstr>
      <vt:lpstr>Merriweather Light</vt:lpstr>
      <vt:lpstr>Merriweather SemiBold</vt:lpstr>
      <vt:lpstr>Simple Light</vt:lpstr>
      <vt:lpstr>Nara Hotéis</vt:lpstr>
      <vt:lpstr>Apresentação do PowerPoint</vt:lpstr>
      <vt:lpstr>Perfil dos clientes</vt:lpstr>
      <vt:lpstr>Faturamento por ano Jan - Agosto</vt:lpstr>
      <vt:lpstr>Apresentação do PowerPoint</vt:lpstr>
      <vt:lpstr>Status de reserva 2025 e 2026</vt:lpstr>
      <vt:lpstr>Apresentação do PowerPoint</vt:lpstr>
      <vt:lpstr>Onde existem unidades com performance de receita discrepante em relação  às demais?</vt:lpstr>
      <vt:lpstr>NaraHoteis Centro</vt:lpstr>
      <vt:lpstr>NaraHoteis Copacabana Premium</vt:lpstr>
      <vt:lpstr>NaraHoteis Nova Iguaçu Centro</vt:lpstr>
      <vt:lpstr>Comportamento das diárias  na rede </vt:lpstr>
      <vt:lpstr>Unidades com registros de reservas simultâneas acima da capacidade cadastrada</vt:lpstr>
      <vt:lpstr>Principais achados</vt:lpstr>
      <vt:lpstr>Existe relação entre desempenho financeiro e percepção do hóspede?</vt:lpstr>
      <vt:lpstr>O caso Copacabana Premium</vt:lpstr>
      <vt:lpstr>O caso Copacabana Premium</vt:lpstr>
      <vt:lpstr>O caso Copacabana Premium</vt:lpstr>
      <vt:lpstr>Ranking invertido Principais achados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SVS</dc:creator>
  <cp:lastModifiedBy>KAROLINE MOREIRA DUFFRAYER</cp:lastModifiedBy>
  <cp:revision>29</cp:revision>
  <dcterms:modified xsi:type="dcterms:W3CDTF">2026-09-23T21:19:18Z</dcterms:modified>
</cp:coreProperties>
</file>