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3" r:id="rId6"/>
    <p:sldId id="274" r:id="rId7"/>
    <p:sldId id="262" r:id="rId8"/>
    <p:sldId id="261" r:id="rId9"/>
    <p:sldId id="275" r:id="rId10"/>
    <p:sldId id="276" r:id="rId11"/>
    <p:sldId id="277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8" r:id="rId21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23"/>
      <p:bold r:id="rId24"/>
      <p:italic r:id="rId25"/>
      <p:boldItalic r:id="rId26"/>
    </p:embeddedFont>
    <p:embeddedFont>
      <p:font typeface="Merriweather Black" panose="00000A00000000000000" pitchFamily="2" charset="0"/>
      <p:bold r:id="rId27"/>
      <p:boldItalic r:id="rId28"/>
    </p:embeddedFont>
    <p:embeddedFont>
      <p:font typeface="Merriweather ExtraBold" panose="020B0604020202020204" charset="0"/>
      <p:bold r:id="rId29"/>
      <p:boldItalic r:id="rId30"/>
    </p:embeddedFont>
    <p:embeddedFont>
      <p:font typeface="Merriweather Light" panose="00000400000000000000" pitchFamily="2" charset="0"/>
      <p:regular r:id="rId31"/>
      <p:bold r:id="rId32"/>
      <p:italic r:id="rId33"/>
      <p:boldItalic r:id="rId34"/>
    </p:embeddedFont>
    <p:embeddedFont>
      <p:font typeface="Merriweather Medium" panose="020B0604020202020204" charset="0"/>
      <p:regular r:id="rId35"/>
      <p:bold r:id="rId36"/>
      <p:italic r:id="rId37"/>
      <p:boldItalic r:id="rId38"/>
    </p:embeddedFont>
    <p:embeddedFont>
      <p:font typeface="Merriweather SemiBold" panose="020B060402020202020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C19B"/>
    <a:srgbClr val="F5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1F1F7F1-9ACD-4A7A-9FF1-98A3A87BC6FC}">
  <a:tblStyle styleId="{41F1F7F1-9ACD-4A7A-9FF1-98A3A87BC6F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021" autoAdjust="0"/>
  </p:normalViewPr>
  <p:slideViewPr>
    <p:cSldViewPr snapToGrid="0">
      <p:cViewPr varScale="1">
        <p:scale>
          <a:sx n="137" d="100"/>
          <a:sy n="137" d="100"/>
        </p:scale>
        <p:origin x="86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font" Target="fonts/font2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3eda180d9f4e40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23eda180d9f4e40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23eda180d9f4e40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23eda180d9f4e40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C9DBC4C-9431-843E-E487-605D3241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16B0F6EB-264A-CDD2-3A1D-BA32E4A30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0ACD576A-C503-4724-6458-5612A07D3F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170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CCBC2525-51DB-452D-0E4B-769F26C4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ABD9E424-74E2-7E18-058C-3726F55B6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C6D59DF0-2972-46F4-A148-5B2EB17E8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4203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23eda180d9f4e40f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23eda180d9f4e40f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45339987-9BEA-ED00-ABBF-8F6B21393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B635DFD7-0FA3-A4C7-BE51-D8EBC1CA2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32CFEFF9-C773-4EF6-0674-4E257455F0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9916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CA6FE436-C0E2-AE79-A7D6-308C4FF6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EDD2B1C3-B55A-6A49-D6C8-BAD9FC4C6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C23A210-45D7-C930-0ABF-4445AA262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727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70644376-3CF9-DCFD-D257-33AA1AE0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D23273AC-D979-D575-AF2B-4B82CB081C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266FFF7-B726-E1AD-DB72-D6813D3ED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7852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h23eda180d9f4e40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h23eda180d9f4e40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23eda180d9f4e40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h23eda180d9f4e40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23eda180d9f4e40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h23eda180d9f4e40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h23eda180d9f4e40f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h23eda180d9f4e40f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23eda180d9f4e40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h23eda180d9f4e40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h23eda180d9f4e40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h23eda180d9f4e40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h23eda180d9f4e40f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h23eda180d9f4e40f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3eda180d9f4e40f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23eda180d9f4e40f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DC3BC763-BA2D-B12E-D2A0-64282429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FFF2E66F-0B7B-E293-5866-690626AAE0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0398AB67-F99D-C2BC-D5B7-A416DC059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684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5F7F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11511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4544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Rede Hoteleira do Estado do Rio de Janeiro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13 Unidades | 4 Regiões | 6 Bases de Dados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60;p13"/>
          <p:cNvCxnSpPr/>
          <p:nvPr/>
        </p:nvCxnSpPr>
        <p:spPr>
          <a:xfrm>
            <a:off x="431625" y="2337950"/>
            <a:ext cx="3906300" cy="0"/>
          </a:xfrm>
          <a:prstGeom prst="straightConnector1">
            <a:avLst/>
          </a:prstGeom>
          <a:noFill/>
          <a:ln w="38100" cap="flat" cmpd="sng">
            <a:solidFill>
              <a:srgbClr val="8B691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oogle Shape;61;p13"/>
          <p:cNvSpPr txBox="1"/>
          <p:nvPr/>
        </p:nvSpPr>
        <p:spPr>
          <a:xfrm>
            <a:off x="311700" y="1907700"/>
            <a:ext cx="5718900" cy="3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Consultoria de Dados: Diagnóstico e Painel Gerencial</a:t>
            </a:r>
            <a:endParaRPr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700" y="3854100"/>
            <a:ext cx="6488700" cy="1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Daniel de Carvalho Nunes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Karoline </a:t>
            </a:r>
            <a:r>
              <a:rPr lang="pt-BR" sz="1800" b="1" dirty="0" err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Duffrayer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63" name="Google Shape;6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8250" y="577150"/>
            <a:ext cx="2959450" cy="29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3">
            <a:alphaModFix/>
          </a:blip>
          <a:srcRect t="22656" b="22961"/>
          <a:stretch/>
        </p:blipFill>
        <p:spPr>
          <a:xfrm>
            <a:off x="354600" y="1648900"/>
            <a:ext cx="8434800" cy="229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4"/>
          <p:cNvSpPr txBox="1"/>
          <p:nvPr/>
        </p:nvSpPr>
        <p:spPr>
          <a:xfrm>
            <a:off x="388325" y="485600"/>
            <a:ext cx="6510900" cy="954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Linha do tempo de inauguração das unidades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BD68AF27-6F3B-4A72-DFDD-437310E33FC6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311700" y="119162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699" y="248075"/>
            <a:ext cx="374563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</a:rPr>
              <a:t>Perfil dos clientes</a:t>
            </a:r>
            <a:endParaRPr sz="25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2028925" y="1294063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2139075" y="1438950"/>
            <a:ext cx="2020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321</a:t>
            </a:r>
            <a:br>
              <a:rPr lang="pt-BR" sz="1800" dirty="0">
                <a:solidFill>
                  <a:schemeClr val="dk2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sym typeface="Merriweather"/>
              </a:rPr>
              <a:t>Clientes Cadastrados</a:t>
            </a:r>
            <a:endParaRPr sz="12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91" name="Google Shape;9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200" y="1320400"/>
            <a:ext cx="1571687" cy="709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51997" y="1220225"/>
            <a:ext cx="925753" cy="6771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5"/>
          <p:cNvSpPr/>
          <p:nvPr/>
        </p:nvSpPr>
        <p:spPr>
          <a:xfrm>
            <a:off x="4657600" y="121287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" name="Google Shape;94;p15"/>
          <p:cNvCxnSpPr/>
          <p:nvPr/>
        </p:nvCxnSpPr>
        <p:spPr>
          <a:xfrm>
            <a:off x="6134975" y="1274038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5" name="Google Shape;95;p15"/>
          <p:cNvSpPr txBox="1"/>
          <p:nvPr/>
        </p:nvSpPr>
        <p:spPr>
          <a:xfrm>
            <a:off x="6245676" y="1438950"/>
            <a:ext cx="2428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65+</a:t>
            </a:r>
            <a:b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200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96" name="Google Shape;9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22587" y="1274050"/>
            <a:ext cx="1055500" cy="82164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97" name="Google Shape;97;p15"/>
          <p:cNvSpPr/>
          <p:nvPr/>
        </p:nvSpPr>
        <p:spPr>
          <a:xfrm>
            <a:off x="311700" y="2316450"/>
            <a:ext cx="32331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16600" y="2310839"/>
            <a:ext cx="2555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823050" y="2316400"/>
            <a:ext cx="48819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057337" y="2341599"/>
            <a:ext cx="3841500" cy="2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Cidades de origem dos clientes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AF9AF33-992D-AA51-EFBD-83D8AD42AE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812" y="2911775"/>
            <a:ext cx="2822352" cy="16816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4B8572B-6213-F055-07B9-FC43CB3F8FC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822" b="8847"/>
          <a:stretch>
            <a:fillRect/>
          </a:stretch>
        </p:blipFill>
        <p:spPr>
          <a:xfrm>
            <a:off x="3879148" y="2773904"/>
            <a:ext cx="4728303" cy="18752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por ano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>
              <a:buClr>
                <a:srgbClr val="000000"/>
              </a:buClr>
            </a:pPr>
            <a:r>
              <a:rPr lang="pt-BR" sz="2000" dirty="0">
                <a:solidFill>
                  <a:srgbClr val="2D5A27"/>
                </a:solidFill>
                <a:latin typeface="Merriweather"/>
                <a:sym typeface="Merriweather Medium"/>
              </a:rPr>
              <a:t>Jan - Agosto</a:t>
            </a:r>
            <a:endParaRPr sz="2000" dirty="0">
              <a:solidFill>
                <a:srgbClr val="2D5A27"/>
              </a:solidFill>
              <a:latin typeface="Merriweather"/>
              <a:sym typeface="Merriweather Medium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1F60B8A4-8298-7CD5-4C6F-5BECDA1E9AD4}"/>
              </a:ext>
            </a:extLst>
          </p:cNvPr>
          <p:cNvGrpSpPr/>
          <p:nvPr/>
        </p:nvGrpSpPr>
        <p:grpSpPr>
          <a:xfrm>
            <a:off x="676701" y="1261050"/>
            <a:ext cx="7435344" cy="3103701"/>
            <a:chOff x="541593" y="1234150"/>
            <a:chExt cx="7435344" cy="3103701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6F2FA12-6065-8F24-B07E-14B0360E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216"/>
            <a:stretch>
              <a:fillRect/>
            </a:stretch>
          </p:blipFill>
          <p:spPr>
            <a:xfrm>
              <a:off x="541593" y="1261050"/>
              <a:ext cx="7435344" cy="3076801"/>
            </a:xfrm>
            <a:prstGeom prst="rect">
              <a:avLst/>
            </a:prstGeom>
          </p:spPr>
        </p:pic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98595E2-710D-1039-F8E3-BA688320EDCC}"/>
                </a:ext>
              </a:extLst>
            </p:cNvPr>
            <p:cNvSpPr/>
            <p:nvPr/>
          </p:nvSpPr>
          <p:spPr>
            <a:xfrm>
              <a:off x="4006516" y="1234150"/>
              <a:ext cx="1383631" cy="203574"/>
            </a:xfrm>
            <a:prstGeom prst="rect">
              <a:avLst/>
            </a:prstGeom>
            <a:solidFill>
              <a:srgbClr val="F5F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" name="Retângulo 13">
            <a:extLst>
              <a:ext uri="{FF2B5EF4-FFF2-40B4-BE49-F238E27FC236}">
                <a16:creationId xmlns:a16="http://schemas.microsoft.com/office/drawing/2014/main" id="{6DB3486F-6F93-1759-C110-5B05669A95A5}"/>
              </a:ext>
            </a:extLst>
          </p:cNvPr>
          <p:cNvSpPr/>
          <p:nvPr/>
        </p:nvSpPr>
        <p:spPr>
          <a:xfrm>
            <a:off x="4267201" y="1488337"/>
            <a:ext cx="1383631" cy="203574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A2631FA7-A547-9448-BBF7-74CED4FE4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ED3D3B2-1CA9-E3A1-5032-3A7F1B0E87F0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32EA4163-5167-CEF1-4DF9-BD88003C1B34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9B0BC39F-EA0F-1870-CA5C-ADC0E03AC25C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12371A60-3939-2CBD-1584-AA62ACC13EFA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8626CDA5-0C84-4DF1-B56D-9FC3710015FA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026FB781-30C2-6004-4AF7-8810C6BBB05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E3809F55-C8C0-B3C2-4CE1-FE3B039EC5B3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48E9813-6CC5-598A-27FD-9CD5791C94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4"/>
          <a:stretch>
            <a:fillRect/>
          </a:stretch>
        </p:blipFill>
        <p:spPr>
          <a:xfrm>
            <a:off x="311699" y="1198427"/>
            <a:ext cx="8105564" cy="3187788"/>
          </a:xfrm>
          <a:prstGeom prst="rect">
            <a:avLst/>
          </a:prstGeom>
        </p:spPr>
      </p:pic>
      <p:sp>
        <p:nvSpPr>
          <p:cNvPr id="5" name="Google Shape;111;p16">
            <a:extLst>
              <a:ext uri="{FF2B5EF4-FFF2-40B4-BE49-F238E27FC236}">
                <a16:creationId xmlns:a16="http://schemas.microsoft.com/office/drawing/2014/main" id="{075F9F85-F3F7-54EF-6211-0B74A8AF6D97}"/>
              </a:ext>
            </a:extLst>
          </p:cNvPr>
          <p:cNvSpPr txBox="1">
            <a:spLocks/>
          </p:cNvSpPr>
          <p:nvPr/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000000"/>
              </a:buClr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mensal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 – reservas concluídas</a:t>
            </a:r>
          </a:p>
        </p:txBody>
      </p:sp>
    </p:spTree>
    <p:extLst>
      <p:ext uri="{BB962C8B-B14F-4D97-AF65-F5344CB8AC3E}">
        <p14:creationId xmlns:p14="http://schemas.microsoft.com/office/powerpoint/2010/main" val="256411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C9DC0D0A-12AA-A3E9-E5AD-63BD77D3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7F3D846-F299-7758-0860-19E8E4BFA3B9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FB3ED31B-8076-C5A8-6FBB-0DF40BD8FF40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597E4A6A-D451-7558-10A6-0C129770ACFB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5C87FDD8-57B1-AB62-3278-BA79D5576384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>
            <a:extLst>
              <a:ext uri="{FF2B5EF4-FFF2-40B4-BE49-F238E27FC236}">
                <a16:creationId xmlns:a16="http://schemas.microsoft.com/office/drawing/2014/main" id="{C93E005B-1583-4430-B47F-40576DF01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ts val="990"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Status de reserva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</a:t>
            </a:r>
            <a:endParaRPr sz="18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38C0B5A6-9FCF-5B38-9C8E-41DBDC42179B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510A168E-DE99-C093-706D-2C6A826BFB0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7E9ABDAA-F38B-E1FA-408A-E14F6E9AD999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052953-6848-0C36-8052-8E39A1D40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83" y="796390"/>
            <a:ext cx="6322936" cy="39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473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9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9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9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202200" y="229014"/>
            <a:ext cx="7965300" cy="5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Variabilidade do faturamento por região</a:t>
            </a:r>
            <a:endParaRPr sz="23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B502AC1-F12C-0E8B-E084-B2713E02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6" y="4332008"/>
            <a:ext cx="3742480" cy="40622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EA961E1-83C2-6995-683B-707CE07A05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7" t="19165" r="1104" b="38265"/>
          <a:stretch>
            <a:fillRect/>
          </a:stretch>
        </p:blipFill>
        <p:spPr>
          <a:xfrm>
            <a:off x="463216" y="1076592"/>
            <a:ext cx="8340734" cy="151756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254B5EB-AC79-B589-F198-AB4695F664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4" t="67652" r="48920" b="6910"/>
          <a:stretch>
            <a:fillRect/>
          </a:stretch>
        </p:blipFill>
        <p:spPr>
          <a:xfrm>
            <a:off x="463216" y="2902338"/>
            <a:ext cx="5210636" cy="1131391"/>
          </a:xfrm>
          <a:prstGeom prst="rect">
            <a:avLst/>
          </a:prstGeom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9BD99FC4-6410-318B-7F0E-F7BC55D8D46C}"/>
              </a:ext>
            </a:extLst>
          </p:cNvPr>
          <p:cNvSpPr txBox="1"/>
          <p:nvPr/>
        </p:nvSpPr>
        <p:spPr>
          <a:xfrm>
            <a:off x="6707927" y="4273900"/>
            <a:ext cx="21902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Onde existem unidades com performance de receita discrepante em relação </a:t>
            </a:r>
            <a:b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às demais?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53145E5-3FCB-2D28-438F-0011F7F41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58" y="1032708"/>
            <a:ext cx="5847347" cy="3881852"/>
          </a:xfrm>
          <a:prstGeom prst="rect">
            <a:avLst/>
          </a:prstGeom>
        </p:spPr>
      </p:pic>
      <p:sp>
        <p:nvSpPr>
          <p:cNvPr id="4" name="Google Shape;112;p16">
            <a:extLst>
              <a:ext uri="{FF2B5EF4-FFF2-40B4-BE49-F238E27FC236}">
                <a16:creationId xmlns:a16="http://schemas.microsoft.com/office/drawing/2014/main" id="{11BF80EE-85BD-FF2B-42DA-31C98E2998DD}"/>
              </a:ext>
            </a:extLst>
          </p:cNvPr>
          <p:cNvSpPr txBox="1"/>
          <p:nvPr/>
        </p:nvSpPr>
        <p:spPr>
          <a:xfrm>
            <a:off x="311699" y="4216825"/>
            <a:ext cx="220056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0AD2FCB-7EE8-9092-18D2-197C01DBE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4B51DE0E-9B69-A7E9-A6E6-79DF099EB9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0186C73-3A33-937E-145B-39FD5D03682A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AC878096-3916-5F9C-9AD1-2BB677082245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3421D4CD-ED53-6525-E291-6F4C45E1C47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4FDF2FC-C46F-5FE7-1703-DBD8A1D96E20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B42D051-1349-F526-2A4D-1CA40FEC1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926675"/>
            <a:ext cx="3372300" cy="185666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1E49A5-7F6B-63BC-0E14-144E7C29F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24480"/>
            <a:ext cx="3794621" cy="2089174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4909E518-DFA0-D122-1231-6E047762EE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35" t="38336" r="67362" b="9032"/>
          <a:stretch>
            <a:fillRect/>
          </a:stretch>
        </p:blipFill>
        <p:spPr>
          <a:xfrm>
            <a:off x="5267337" y="612646"/>
            <a:ext cx="3036691" cy="3504655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4A13C3BB-D181-7074-4B17-8C5D8C1B1822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3406605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1602FCC-8CF9-8570-94A0-C7CCB52F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3A600373-B528-3C30-37D4-F4AE8C2C6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Copacabana Premium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1FE70C5-4D11-26A6-17E6-A0725A3AE19E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63B53A0D-C000-3EC7-B151-20BCDEC82932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C73D90FA-907B-DAC4-5DC8-C7331CD8DA4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41CD7FC1-6F31-707C-512B-51B07FB04401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EE8CF6-9CDD-54DE-D1FA-2ED10CC6B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1" y="926675"/>
            <a:ext cx="3730994" cy="205414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4D4DC71-28E2-7861-148C-D2AF4C969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47" y="3023331"/>
            <a:ext cx="3461801" cy="1888956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E1157AE4-A09E-805E-B1C9-7E1FE62D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427" t="58349" r="34686" b="8588"/>
          <a:stretch/>
        </p:blipFill>
        <p:spPr>
          <a:xfrm>
            <a:off x="5448219" y="1792850"/>
            <a:ext cx="2646861" cy="1888956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E2B70187-E992-8C6B-A183-A0144B9DF6AC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6" name="Google Shape;115;p16">
            <a:extLst>
              <a:ext uri="{FF2B5EF4-FFF2-40B4-BE49-F238E27FC236}">
                <a16:creationId xmlns:a16="http://schemas.microsoft.com/office/drawing/2014/main" id="{5995A150-80FC-8AC0-B6BE-5B317D3D31B3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16;p16">
            <a:extLst>
              <a:ext uri="{FF2B5EF4-FFF2-40B4-BE49-F238E27FC236}">
                <a16:creationId xmlns:a16="http://schemas.microsoft.com/office/drawing/2014/main" id="{6861C150-3FE0-D14E-EE3B-BE84EE81B551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  <p:extLst>
      <p:ext uri="{BB962C8B-B14F-4D97-AF65-F5344CB8AC3E}">
        <p14:creationId xmlns:p14="http://schemas.microsoft.com/office/powerpoint/2010/main" val="4268115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8BE8829F-9FCF-8CCC-8D8A-E80F9310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EE53A232-C1B2-1928-DD1C-10CEFD57AD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Nova Iguaçu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5A2D29E3-4B34-A4ED-1125-9EC2CD93CB83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53D49585-AB08-3707-A404-C199A7241053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B6F87748-AF7C-859A-AB37-78F89F6A2A7E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08898C8E-46FA-37C8-6C93-869484062DAC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92373A3-3980-010F-F8F3-4B55D541E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1" y="2860347"/>
            <a:ext cx="3504017" cy="192917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CA5256-7DB0-B3C7-AD11-2B6F22D2C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201" y="869879"/>
            <a:ext cx="3749598" cy="206438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CDA5461-BD9E-B3F3-60D9-B02EB72B9F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227" t="37381" r="2196" b="10335"/>
          <a:stretch>
            <a:fillRect/>
          </a:stretch>
        </p:blipFill>
        <p:spPr>
          <a:xfrm>
            <a:off x="5362883" y="1091950"/>
            <a:ext cx="2465189" cy="2810199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FA1E4402-F09F-A329-2287-75E1738D2835}"/>
              </a:ext>
            </a:extLst>
          </p:cNvPr>
          <p:cNvSpPr txBox="1"/>
          <p:nvPr/>
        </p:nvSpPr>
        <p:spPr>
          <a:xfrm>
            <a:off x="6714907" y="4273900"/>
            <a:ext cx="218329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5" name="Google Shape;115;p16">
            <a:extLst>
              <a:ext uri="{FF2B5EF4-FFF2-40B4-BE49-F238E27FC236}">
                <a16:creationId xmlns:a16="http://schemas.microsoft.com/office/drawing/2014/main" id="{6EF38219-1B4B-A8CD-4010-90AF24D58CD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16;p16">
            <a:extLst>
              <a:ext uri="{FF2B5EF4-FFF2-40B4-BE49-F238E27FC236}">
                <a16:creationId xmlns:a16="http://schemas.microsoft.com/office/drawing/2014/main" id="{B1DA4D7D-B214-D3EE-2381-8E98D846AA21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  <p:extLst>
      <p:ext uri="{BB962C8B-B14F-4D97-AF65-F5344CB8AC3E}">
        <p14:creationId xmlns:p14="http://schemas.microsoft.com/office/powerpoint/2010/main" val="4076082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311700" y="25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Comportamento das diárias  na rede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0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0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998DC8C-8F0E-ED23-2EFC-CBC3A3FD5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17"/>
          <a:stretch>
            <a:fillRect/>
          </a:stretch>
        </p:blipFill>
        <p:spPr>
          <a:xfrm>
            <a:off x="311699" y="1318437"/>
            <a:ext cx="5221965" cy="223221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849524-815C-BE04-581B-EEE3D8236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674" b="13960"/>
          <a:stretch>
            <a:fillRect/>
          </a:stretch>
        </p:blipFill>
        <p:spPr>
          <a:xfrm>
            <a:off x="5531207" y="544325"/>
            <a:ext cx="3413051" cy="4261591"/>
          </a:xfrm>
          <a:prstGeom prst="rect">
            <a:avLst/>
          </a:prstGeom>
        </p:spPr>
      </p:pic>
      <p:sp>
        <p:nvSpPr>
          <p:cNvPr id="14" name="Google Shape;112;p16">
            <a:extLst>
              <a:ext uri="{FF2B5EF4-FFF2-40B4-BE49-F238E27FC236}">
                <a16:creationId xmlns:a16="http://schemas.microsoft.com/office/drawing/2014/main" id="{1E18DE24-C91F-EBAA-7957-C89F922A24B5}"/>
              </a:ext>
            </a:extLst>
          </p:cNvPr>
          <p:cNvSpPr txBox="1"/>
          <p:nvPr/>
        </p:nvSpPr>
        <p:spPr>
          <a:xfrm>
            <a:off x="199742" y="4231525"/>
            <a:ext cx="217351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311700" y="286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ct val="61111"/>
            </a:pPr>
            <a:r>
              <a:rPr lang="pt-BR" sz="2300" b="1" dirty="0">
                <a:solidFill>
                  <a:srgbClr val="2D5A27"/>
                </a:solidFill>
                <a:latin typeface="Merriweather"/>
              </a:rPr>
              <a:t>Unidades com registros de reservas simultâneas acima da capacidade cadastrada</a:t>
            </a:r>
            <a:endParaRPr sz="23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172" name="Google Shape;172;p21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1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21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1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6" name="Google Shape;176;p21"/>
          <p:cNvGraphicFramePr/>
          <p:nvPr>
            <p:extLst>
              <p:ext uri="{D42A27DB-BD31-4B8C-83A1-F6EECF244321}">
                <p14:modId xmlns:p14="http://schemas.microsoft.com/office/powerpoint/2010/main" val="640046159"/>
              </p:ext>
            </p:extLst>
          </p:nvPr>
        </p:nvGraphicFramePr>
        <p:xfrm>
          <a:off x="675300" y="1610128"/>
          <a:ext cx="7793400" cy="2279315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88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2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8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6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Unidade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Capacidade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Pico de Ocupação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Período de Pico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 (%)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Centro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16/01/2024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31,67%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Nova Iguaçu Centro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64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16/06/2024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28,00%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20/07/2025 e 16/04/2026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12,50%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Google Shape;112;p16">
            <a:extLst>
              <a:ext uri="{FF2B5EF4-FFF2-40B4-BE49-F238E27FC236}">
                <a16:creationId xmlns:a16="http://schemas.microsoft.com/office/drawing/2014/main" id="{05D9F3CE-E0C8-1D7D-588B-187F7A4B0700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2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2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2D5A27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Principais achados</a:t>
            </a:r>
            <a:endParaRPr>
              <a:solidFill>
                <a:srgbClr val="2D5A27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84" name="Google Shape;184;p22"/>
          <p:cNvSpPr txBox="1">
            <a:spLocks noGrp="1"/>
          </p:cNvSpPr>
          <p:nvPr>
            <p:ph type="body" idx="1"/>
          </p:nvPr>
        </p:nvSpPr>
        <p:spPr>
          <a:xfrm>
            <a:off x="1000700" y="125817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Três unidades operaram acima da capacidade cadastrada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registros indicam ocupação superior ao limite em períodos específicos.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 maior excesso foi na unidade Centro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Pico de 79 reservas para uma capacidade de 60 quartos (+31,67%).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picos ocorreram em períodos distintos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Janeiro/2024 (Centro), junho/2024 (Nova Iguaçu Centro), e julho/2025 e abril/2026 (Copacabana Premium.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2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2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2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22"/>
          <p:cNvSpPr/>
          <p:nvPr/>
        </p:nvSpPr>
        <p:spPr>
          <a:xfrm>
            <a:off x="511175" y="134755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511175" y="230380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511175" y="315117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2" name="Google Shape;192;p22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4973300" y="561675"/>
            <a:ext cx="421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Impactos potenciais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94" name="Google Shape;194;p22"/>
          <p:cNvSpPr txBox="1">
            <a:spLocks noGrp="1"/>
          </p:cNvSpPr>
          <p:nvPr>
            <p:ph type="body" idx="1"/>
          </p:nvPr>
        </p:nvSpPr>
        <p:spPr>
          <a:xfrm>
            <a:off x="4481675" y="1381200"/>
            <a:ext cx="4260300" cy="3126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Overbooking e necessidade de realocação de hóspedes;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Problemas na experiência e satisfação dos clientes;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Sobrecarga operacional das equipes;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Risco de indisponibilidade de quartos;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Revisão da capacidade cadastrada e da qualidade dos dados.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311700" y="25957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Existe relação entre desempenho financeiro e percepção do hóspede?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EE9B145-031C-9CBF-775E-B4D8FA6AB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105425"/>
            <a:ext cx="5829344" cy="315823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DF5CAD-DB40-FC1C-0E63-493395E58E98}"/>
              </a:ext>
            </a:extLst>
          </p:cNvPr>
          <p:cNvSpPr txBox="1"/>
          <p:nvPr/>
        </p:nvSpPr>
        <p:spPr>
          <a:xfrm>
            <a:off x="3848669" y="279779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D4B9616-D1B8-A836-35C9-57919E15B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325"/>
          <a:stretch>
            <a:fillRect/>
          </a:stretch>
        </p:blipFill>
        <p:spPr>
          <a:xfrm>
            <a:off x="6622453" y="782528"/>
            <a:ext cx="2059245" cy="4030525"/>
          </a:xfrm>
          <a:prstGeom prst="rect">
            <a:avLst/>
          </a:prstGeom>
        </p:spPr>
      </p:pic>
      <p:sp>
        <p:nvSpPr>
          <p:cNvPr id="13" name="Google Shape;112;p16">
            <a:extLst>
              <a:ext uri="{FF2B5EF4-FFF2-40B4-BE49-F238E27FC236}">
                <a16:creationId xmlns:a16="http://schemas.microsoft.com/office/drawing/2014/main" id="{73B55252-3A9E-672F-0365-A5AFE7765C1D}"/>
              </a:ext>
            </a:extLst>
          </p:cNvPr>
          <p:cNvSpPr txBox="1"/>
          <p:nvPr/>
        </p:nvSpPr>
        <p:spPr>
          <a:xfrm>
            <a:off x="202200" y="4229927"/>
            <a:ext cx="206940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/>
          <p:nvPr/>
        </p:nvSpPr>
        <p:spPr>
          <a:xfrm>
            <a:off x="6777288" y="1033951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4"/>
          <p:cNvSpPr/>
          <p:nvPr/>
        </p:nvSpPr>
        <p:spPr>
          <a:xfrm>
            <a:off x="4740738" y="1033963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4"/>
          <p:cNvSpPr/>
          <p:nvPr/>
        </p:nvSpPr>
        <p:spPr>
          <a:xfrm>
            <a:off x="2675288" y="1017888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4"/>
          <p:cNvSpPr/>
          <p:nvPr/>
        </p:nvSpPr>
        <p:spPr>
          <a:xfrm>
            <a:off x="654625" y="1043075"/>
            <a:ext cx="1597800" cy="899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chemeClr val="lt1"/>
              </a:highlight>
            </a:endParaRPr>
          </a:p>
        </p:txBody>
      </p:sp>
      <p:sp>
        <p:nvSpPr>
          <p:cNvPr id="215" name="Google Shape;215;p24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sp>
        <p:nvSpPr>
          <p:cNvPr id="216" name="Google Shape;216;p2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2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20" name="Google Shape;220;p24"/>
          <p:cNvGraphicFramePr/>
          <p:nvPr>
            <p:extLst>
              <p:ext uri="{D42A27DB-BD31-4B8C-83A1-F6EECF244321}">
                <p14:modId xmlns:p14="http://schemas.microsoft.com/office/powerpoint/2010/main" val="1999821357"/>
              </p:ext>
            </p:extLst>
          </p:nvPr>
        </p:nvGraphicFramePr>
        <p:xfrm>
          <a:off x="979475" y="2125975"/>
          <a:ext cx="7239000" cy="268449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23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Indicador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Demais unidades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estimada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R$ 252.070,00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R$ 347.130,00 a R$ 739.380,00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por quarto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</a:t>
                      </a: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6.301,75</a:t>
                      </a:r>
                      <a:r>
                        <a:rPr lang="pt-BR" sz="1300" dirty="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Média de R$ 9.664,59</a:t>
                      </a:r>
                      <a:r>
                        <a:rPr lang="pt-BR" sz="130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Diferença contra a média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−34,8%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—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Quartos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40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45 a 120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Reservas válidas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112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271 a 410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Diárias vendidas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315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872 a 1.105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1" name="Google Shape;221;p24"/>
          <p:cNvSpPr txBox="1"/>
          <p:nvPr/>
        </p:nvSpPr>
        <p:spPr>
          <a:xfrm>
            <a:off x="654500" y="997700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estimada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R$ 252.070</a:t>
            </a:r>
            <a:endParaRPr sz="19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receita da rede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2" name="Google Shape;222;p24"/>
          <p:cNvSpPr txBox="1"/>
          <p:nvPr/>
        </p:nvSpPr>
        <p:spPr>
          <a:xfrm>
            <a:off x="2711100" y="997700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por quarto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R$ 6.301,75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34,8% abaixo da média da rede</a:t>
            </a:r>
            <a:endParaRPr sz="900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3" name="Google Shape;223;p24"/>
          <p:cNvSpPr txBox="1"/>
          <p:nvPr/>
        </p:nvSpPr>
        <p:spPr>
          <a:xfrm>
            <a:off x="4781575" y="997800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 corrigido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2º maior RevPAR da rede</a:t>
            </a:r>
            <a:endParaRPr sz="90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806200" y="997700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5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pic>
        <p:nvPicPr>
          <p:cNvPr id="234" name="Google Shape;234;p25" title="Copacaba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502" y="889650"/>
            <a:ext cx="6180998" cy="3912750"/>
          </a:xfrm>
          <a:prstGeom prst="rect">
            <a:avLst/>
          </a:prstGeom>
          <a:noFill/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5" name="Google Shape;23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26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latin typeface="Merriweather"/>
                <a:ea typeface="Merriweather"/>
                <a:cs typeface="Merriweather"/>
                <a:sym typeface="Merriweather"/>
              </a:rPr>
              <a:t>O caso Copacabana Premium</a:t>
            </a:r>
            <a:endParaRPr b="1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46" name="Google Shape;246;p26"/>
          <p:cNvSpPr txBox="1"/>
          <p:nvPr/>
        </p:nvSpPr>
        <p:spPr>
          <a:xfrm>
            <a:off x="311700" y="736101"/>
            <a:ext cx="7320900" cy="3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2D5A27"/>
                </a:solidFill>
                <a:latin typeface="Merriweather Medium"/>
                <a:ea typeface="Merriweather Medium"/>
                <a:cs typeface="Merriweather Medium"/>
                <a:sym typeface="Merriweather Medium"/>
              </a:rPr>
              <a:t>E se fizermos um ranking invertido?</a:t>
            </a:r>
            <a:endParaRPr sz="1300">
              <a:solidFill>
                <a:srgbClr val="2D5A27"/>
              </a:solidFill>
              <a:latin typeface="Merriweather Medium"/>
              <a:ea typeface="Merriweather Medium"/>
              <a:cs typeface="Merriweather Medium"/>
              <a:sym typeface="Merriweather Medium"/>
            </a:endParaRPr>
          </a:p>
        </p:txBody>
      </p:sp>
      <p:graphicFrame>
        <p:nvGraphicFramePr>
          <p:cNvPr id="247" name="Google Shape;247;p26"/>
          <p:cNvGraphicFramePr/>
          <p:nvPr>
            <p:extLst>
              <p:ext uri="{D42A27DB-BD31-4B8C-83A1-F6EECF244321}">
                <p14:modId xmlns:p14="http://schemas.microsoft.com/office/powerpoint/2010/main" val="1258854126"/>
              </p:ext>
            </p:extLst>
          </p:nvPr>
        </p:nvGraphicFramePr>
        <p:xfrm>
          <a:off x="952500" y="2298466"/>
          <a:ext cx="7239000" cy="256552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Unidade 5 estrelas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RevPAR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Diária média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Receita/quarto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Quartos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10,98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R$ 800,22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R$ 6.301,75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u="sng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574</a:t>
                      </a:r>
                      <a:endParaRPr sz="1000" b="1" u="sng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Paraty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7,36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R$ 683,98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R$ 9.858,40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Petrópolis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6,85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R$ 636,60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R$ 9.167,00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1.338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Ipanema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6,07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R$ 631,30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R$ 8.057,00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80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1.327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Angra dos Reis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5,52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R$ 682,12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R$ 7.336,56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90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8" name="Google Shape;248;p26"/>
          <p:cNvSpPr/>
          <p:nvPr/>
        </p:nvSpPr>
        <p:spPr>
          <a:xfrm>
            <a:off x="6777300" y="1202475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6"/>
          <p:cNvSpPr/>
          <p:nvPr/>
        </p:nvSpPr>
        <p:spPr>
          <a:xfrm>
            <a:off x="4740750" y="1202500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26"/>
          <p:cNvSpPr/>
          <p:nvPr/>
        </p:nvSpPr>
        <p:spPr>
          <a:xfrm>
            <a:off x="2587779" y="1186426"/>
            <a:ext cx="17709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26"/>
          <p:cNvSpPr/>
          <p:nvPr/>
        </p:nvSpPr>
        <p:spPr>
          <a:xfrm>
            <a:off x="612325" y="1187300"/>
            <a:ext cx="16401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6"/>
          <p:cNvSpPr txBox="1"/>
          <p:nvPr/>
        </p:nvSpPr>
        <p:spPr>
          <a:xfrm>
            <a:off x="654500" y="1166225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Tempo de operação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Primeiro check-in em 24/01/2025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3" name="Google Shape;253;p26"/>
          <p:cNvSpPr txBox="1"/>
          <p:nvPr/>
        </p:nvSpPr>
        <p:spPr>
          <a:xfrm>
            <a:off x="2711100" y="1166225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Capacidade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capacidade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4781575" y="1166325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41,9% acima da média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6806200" y="1166225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6" name="Google Shape;25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7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7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7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7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7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Ranking invertido</a:t>
            </a:r>
            <a:endParaRPr sz="202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>
                <a:solidFill>
                  <a:srgbClr val="2D5A27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Principais achados</a:t>
            </a:r>
            <a:endParaRPr sz="2020">
              <a:solidFill>
                <a:srgbClr val="2D5A27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sp>
        <p:nvSpPr>
          <p:cNvPr id="268" name="Google Shape;268;p27"/>
          <p:cNvSpPr txBox="1">
            <a:spLocks noGrp="1"/>
          </p:cNvSpPr>
          <p:nvPr>
            <p:ph type="body" idx="1"/>
          </p:nvPr>
        </p:nvSpPr>
        <p:spPr>
          <a:xfrm>
            <a:off x="1000700" y="134193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Copacabana Premium salta da última para a primeira posição.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É a unidade com a maior inversão do grupo: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5ª em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e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1ª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(+4 posições). Isso confirma que o baixo faturamento acumulado reflete o menor porte e o menor tempo de operação da unidade, e não um desempenho operacional inferior.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Liderar em receita não significa liderar em eficiência.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Paraty tem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maior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do grupo (R$ 739.380,00), mas cai para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quando o indicador é o </a:t>
            </a:r>
            <a:r>
              <a:rPr lang="pt-BR" sz="1150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corrigido. O volume acumulado de receita não garante a melhor relação entre diária e ocupação.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Angra dos Reis tem a maior queda do ranking.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Apesar de ocupar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 em receita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(R$ 660.290,40), a unidade cai para o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5º e último lugar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(−3 posições), indicando que sua receita relativamente alta não se traduz em eficiência por quarto/dia de operação.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9" name="Google Shape;269;p27"/>
          <p:cNvSpPr/>
          <p:nvPr/>
        </p:nvSpPr>
        <p:spPr>
          <a:xfrm>
            <a:off x="511175" y="143131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0" name="Google Shape;270;p27"/>
          <p:cNvSpPr/>
          <p:nvPr/>
        </p:nvSpPr>
        <p:spPr>
          <a:xfrm>
            <a:off x="511175" y="2469579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 dirty="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1" name="Google Shape;271;p27"/>
          <p:cNvSpPr/>
          <p:nvPr/>
        </p:nvSpPr>
        <p:spPr>
          <a:xfrm>
            <a:off x="511175" y="342049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2" name="Google Shape;272;p27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title"/>
          </p:nvPr>
        </p:nvSpPr>
        <p:spPr>
          <a:xfrm>
            <a:off x="4590650" y="581900"/>
            <a:ext cx="4151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Resultado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274" name="Google Shape;274;p27"/>
          <p:cNvSpPr txBox="1">
            <a:spLocks noGrp="1"/>
          </p:cNvSpPr>
          <p:nvPr>
            <p:ph type="body" idx="1"/>
          </p:nvPr>
        </p:nvSpPr>
        <p:spPr>
          <a:xfrm>
            <a:off x="4481675" y="1258175"/>
            <a:ext cx="4260300" cy="345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</a:t>
            </a:r>
            <a:r>
              <a:rPr lang="pt-BR" sz="880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NaraHoteis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Copacabana Premium é a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última colocada em receita estimada (R$ 252.070,00)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está 34,8% abaixo da média da rede em receita por quarto.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Entretanto, a receita acumulada não deve ser interpretada isoladamente. A unidade possui apenas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 e opera há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b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, enquanto as demais unidades comparáveis possuem períodos de operação muito maiores.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Quando os indicadores são normalizados por capacidade e tempo de operação, o cenário muda: o </a:t>
            </a:r>
            <a:r>
              <a:rPr lang="pt-BR" sz="880" b="1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corrigido é de 10,98, o 2º maior da rede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o maior entre as unidades 5 estrelas analisadas.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diária média de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também é a maior da rede. Portanto, o baixo faturamento acumulado está relacionado principalmente ao menor tempo de operação e ao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menor volume acumulado de diárias vendidas</a:t>
            </a:r>
            <a:r>
              <a:rPr lang="pt-BR" sz="90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.</a:t>
            </a:r>
            <a:endParaRPr sz="900" b="1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4">
          <a:extLst>
            <a:ext uri="{FF2B5EF4-FFF2-40B4-BE49-F238E27FC236}">
              <a16:creationId xmlns:a16="http://schemas.microsoft.com/office/drawing/2014/main" id="{F66AE4CA-2AE8-47DF-A405-85D5DB06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B4FFF1B8-ED83-9EDF-D5E7-0C594621AF05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2F205ACF-1F2A-CD51-B9A7-17C9A439A12B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1C51E35B-8812-B4C2-7AA7-2D41CE24F35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8AF943A-D0A5-3EF7-DF73-6EADA565198D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025C252-CBDA-45C5-873F-756866F32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14" y="321829"/>
            <a:ext cx="3650272" cy="24232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3C87480-769F-D4F6-4CBA-4D9F05574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859" y="1419726"/>
            <a:ext cx="5076027" cy="336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4642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987</Words>
  <Application>Microsoft Office PowerPoint</Application>
  <PresentationFormat>Apresentação na tela (16:9)</PresentationFormat>
  <Paragraphs>215</Paragraphs>
  <Slides>20</Slides>
  <Notes>20</Notes>
  <HiddenSlides>1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Merriweather Medium</vt:lpstr>
      <vt:lpstr>Merriweather</vt:lpstr>
      <vt:lpstr>Merriweather Light</vt:lpstr>
      <vt:lpstr>Merriweather ExtraBold</vt:lpstr>
      <vt:lpstr>Arial</vt:lpstr>
      <vt:lpstr>Merriweather Black</vt:lpstr>
      <vt:lpstr>Merriweather SemiBold</vt:lpstr>
      <vt:lpstr>Simple Light</vt:lpstr>
      <vt:lpstr>Nara Hotéis</vt:lpstr>
      <vt:lpstr>Apresentação do PowerPoint</vt:lpstr>
      <vt:lpstr>Perfil dos clientes</vt:lpstr>
      <vt:lpstr>Faturamento por ano Jan - Agosto</vt:lpstr>
      <vt:lpstr>Apresentação do PowerPoint</vt:lpstr>
      <vt:lpstr>Status de reserva 2025 e 2026</vt:lpstr>
      <vt:lpstr>Apresentação do PowerPoint</vt:lpstr>
      <vt:lpstr>Onde existem unidades com performance de receita discrepante em relação  às demais?</vt:lpstr>
      <vt:lpstr>NaraHoteis Centro</vt:lpstr>
      <vt:lpstr>NaraHoteis Copacabana Premium</vt:lpstr>
      <vt:lpstr>NaraHoteis Nova Iguaçu Centro</vt:lpstr>
      <vt:lpstr>Comportamento das diárias  na rede </vt:lpstr>
      <vt:lpstr>Unidades com registros de reservas simultâneas acima da capacidade cadastrada</vt:lpstr>
      <vt:lpstr>Principais achados</vt:lpstr>
      <vt:lpstr>Existe relação entre desempenho financeiro e percepção do hóspede?</vt:lpstr>
      <vt:lpstr>O caso Copacabana Premium</vt:lpstr>
      <vt:lpstr>O caso Copacabana Premium</vt:lpstr>
      <vt:lpstr>O caso Copacabana Premium</vt:lpstr>
      <vt:lpstr>Ranking invertido Principais achados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SVS</dc:creator>
  <cp:lastModifiedBy>DANIEL DE CARVALHO NUNES</cp:lastModifiedBy>
  <cp:revision>33</cp:revision>
  <dcterms:modified xsi:type="dcterms:W3CDTF">2026-09-23T22:29:10Z</dcterms:modified>
</cp:coreProperties>
</file>